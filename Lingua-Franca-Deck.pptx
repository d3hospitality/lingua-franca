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79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759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0138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6897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40277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3656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7036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10415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795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175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0554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03934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7313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50693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74072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97452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20831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44211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67590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90970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92608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BOOT.LOG  //  SYSTEM INITIALIZING...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LINGUA_FRANCA // v1.0.0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15400" y="114300"/>
            <a:ext cx="6400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76495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◉ UPLINK STABLE    NODE: LINGUA_FRANCA    CTX: ER_G2    RED_CAMBRIA @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4" name="Shape 32"/>
          <p:cNvSpPr/>
          <p:nvPr/>
        </p:nvSpPr>
        <p:spPr>
          <a:xfrm>
            <a:off x="8778240" y="164592"/>
            <a:ext cx="201168" cy="22860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5" name="Shape 33"/>
          <p:cNvSpPr/>
          <p:nvPr/>
        </p:nvSpPr>
        <p:spPr>
          <a:xfrm>
            <a:off x="8956548" y="164592"/>
            <a:ext cx="22860" cy="20116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6" name="Shape 34"/>
          <p:cNvSpPr/>
          <p:nvPr/>
        </p:nvSpPr>
        <p:spPr>
          <a:xfrm>
            <a:off x="164592" y="4956048"/>
            <a:ext cx="201168" cy="22860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7" name="Shape 35"/>
          <p:cNvSpPr/>
          <p:nvPr/>
        </p:nvSpPr>
        <p:spPr>
          <a:xfrm>
            <a:off x="164592" y="4777740"/>
            <a:ext cx="22860" cy="20116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8" name="Shape 36"/>
          <p:cNvSpPr/>
          <p:nvPr/>
        </p:nvSpPr>
        <p:spPr>
          <a:xfrm>
            <a:off x="8778240" y="4956048"/>
            <a:ext cx="201168" cy="22860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9" name="Shape 37"/>
          <p:cNvSpPr/>
          <p:nvPr/>
        </p:nvSpPr>
        <p:spPr>
          <a:xfrm>
            <a:off x="8956548" y="4777740"/>
            <a:ext cx="22860" cy="20116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40" name="Shape 38"/>
          <p:cNvSpPr/>
          <p:nvPr/>
        </p:nvSpPr>
        <p:spPr>
          <a:xfrm rot="2700000">
            <a:off x="4251960" y="1600200"/>
            <a:ext cx="640080" cy="640080"/>
          </a:xfrm>
          <a:prstGeom prst="rect">
            <a:avLst/>
          </a:prstGeom>
          <a:solidFill>
            <a:srgbClr val="05080A"/>
          </a:solidFill>
          <a:ln w="19050">
            <a:solidFill>
              <a:srgbClr val="00FF4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7992" y="1856232"/>
            <a:ext cx="128016" cy="128016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LF//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4320" y="288036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10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LINGUA  FRANCA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274320" y="3611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REAL-WORLD FLUENCY, ONE SCENE AT A TIME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74320" y="39319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FOR EVEN REALITIES G2 SMART GLASSES 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0" y="4315968"/>
            <a:ext cx="27432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4348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RED_CAMBRIA  ·  2026  ·  RESEARCH BUILD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79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759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0138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6897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40277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3656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7036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10415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795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175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0554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03934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7313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50693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74072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97452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20831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44211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67590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90970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92608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SECTION 01 / 08  //  PROBLEM.DETECT()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LINGUA_FRANCA // v1.0.0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15400" y="114300"/>
            <a:ext cx="6400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76495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READY   ●   UPLINK STABLE   ●   RED_CAMBRIA @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4" name="Shape 32"/>
          <p:cNvSpPr/>
          <p:nvPr/>
        </p:nvSpPr>
        <p:spPr>
          <a:xfrm>
            <a:off x="8778240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5" name="Shape 33"/>
          <p:cNvSpPr/>
          <p:nvPr/>
        </p:nvSpPr>
        <p:spPr>
          <a:xfrm>
            <a:off x="8956548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6" name="Shape 34"/>
          <p:cNvSpPr/>
          <p:nvPr/>
        </p:nvSpPr>
        <p:spPr>
          <a:xfrm>
            <a:off x="164592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7" name="Shape 35"/>
          <p:cNvSpPr/>
          <p:nvPr/>
        </p:nvSpPr>
        <p:spPr>
          <a:xfrm>
            <a:off x="164592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8" name="Shape 36"/>
          <p:cNvSpPr/>
          <p:nvPr/>
        </p:nvSpPr>
        <p:spPr>
          <a:xfrm>
            <a:off x="8778240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9" name="Shape 37"/>
          <p:cNvSpPr/>
          <p:nvPr/>
        </p:nvSpPr>
        <p:spPr>
          <a:xfrm>
            <a:off x="8956548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PROBLEM.DETECT()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7589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2" name="Shape 40"/>
          <p:cNvSpPr/>
          <p:nvPr/>
        </p:nvSpPr>
        <p:spPr>
          <a:xfrm>
            <a:off x="365760" y="1417320"/>
            <a:ext cx="548640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3" name="Shape 41"/>
          <p:cNvSpPr/>
          <p:nvPr/>
        </p:nvSpPr>
        <p:spPr>
          <a:xfrm>
            <a:off x="960120" y="1417320"/>
            <a:ext cx="7772400" cy="22860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1600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Language-learning apps teach vocabulary in a vacuum. When you're abroad — at a restaurant, meeting someone, asking directions — you freeze.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8912" y="2331720"/>
            <a:ext cx="2670048" cy="233172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331720"/>
            <a:ext cx="73152" cy="22860"/>
          </a:xfrm>
          <a:prstGeom prst="rect">
            <a:avLst/>
          </a:prstGeom>
          <a:solidFill>
            <a:srgbClr val="FF3333"/>
          </a:solidFill>
          <a:ln/>
        </p:spPr>
      </p:sp>
      <p:sp>
        <p:nvSpPr>
          <p:cNvPr id="47" name="Shape 45"/>
          <p:cNvSpPr/>
          <p:nvPr/>
        </p:nvSpPr>
        <p:spPr>
          <a:xfrm>
            <a:off x="438912" y="2331720"/>
            <a:ext cx="22860" cy="73152"/>
          </a:xfrm>
          <a:prstGeom prst="rect">
            <a:avLst/>
          </a:prstGeom>
          <a:solidFill>
            <a:srgbClr val="FF3333"/>
          </a:solidFill>
          <a:ln/>
        </p:spPr>
      </p:sp>
      <p:sp>
        <p:nvSpPr>
          <p:cNvPr id="48" name="Shape 46"/>
          <p:cNvSpPr/>
          <p:nvPr/>
        </p:nvSpPr>
        <p:spPr>
          <a:xfrm>
            <a:off x="621792" y="2514600"/>
            <a:ext cx="841248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FF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[ERR_01]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179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621792" y="33832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GAP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1792" y="3749040"/>
            <a:ext cx="457200" cy="18288"/>
          </a:xfrm>
          <a:prstGeom prst="rect">
            <a:avLst/>
          </a:prstGeom>
          <a:solidFill>
            <a:srgbClr val="FF3333"/>
          </a:solidFill>
          <a:ln/>
        </p:spPr>
      </p:sp>
      <p:sp>
        <p:nvSpPr>
          <p:cNvPr id="53" name="Text 51"/>
          <p:cNvSpPr/>
          <p:nvPr/>
        </p:nvSpPr>
        <p:spPr>
          <a:xfrm>
            <a:off x="621792" y="386791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Duolingo teaches "the cat is blue" — not how to order wine in Italian.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36976" y="2331720"/>
            <a:ext cx="2670048" cy="233172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36976" y="2331720"/>
            <a:ext cx="73152" cy="22860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3236976" y="2331720"/>
            <a:ext cx="22860" cy="73152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3419856" y="2514600"/>
            <a:ext cx="841248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19856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[ERR_02]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419856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◉</a:t>
            </a:r>
            <a:endParaRPr lang="en-US" sz="3000" dirty="0"/>
          </a:p>
        </p:txBody>
      </p:sp>
      <p:sp>
        <p:nvSpPr>
          <p:cNvPr id="60" name="Text 58"/>
          <p:cNvSpPr/>
          <p:nvPr/>
        </p:nvSpPr>
        <p:spPr>
          <a:xfrm>
            <a:off x="3419856" y="33832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 BUSY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419856" y="3749040"/>
            <a:ext cx="457200" cy="1828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62" name="Text 60"/>
          <p:cNvSpPr/>
          <p:nvPr/>
        </p:nvSpPr>
        <p:spPr>
          <a:xfrm>
            <a:off x="3419856" y="386791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can't stare at your phone mid-conversation without being rude.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35040" y="2331720"/>
            <a:ext cx="2670048" cy="233172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35040" y="2331720"/>
            <a:ext cx="73152" cy="22860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65" name="Shape 63"/>
          <p:cNvSpPr/>
          <p:nvPr/>
        </p:nvSpPr>
        <p:spPr>
          <a:xfrm>
            <a:off x="6035040" y="2331720"/>
            <a:ext cx="22860" cy="73152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66" name="Shape 64"/>
          <p:cNvSpPr/>
          <p:nvPr/>
        </p:nvSpPr>
        <p:spPr>
          <a:xfrm>
            <a:off x="6217920" y="2514600"/>
            <a:ext cx="841248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B06BD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25146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06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[ERR_03]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17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06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⟁</a:t>
            </a:r>
            <a:endParaRPr lang="en-US" sz="3000" dirty="0"/>
          </a:p>
        </p:txBody>
      </p:sp>
      <p:sp>
        <p:nvSpPr>
          <p:cNvPr id="69" name="Text 67"/>
          <p:cNvSpPr/>
          <p:nvPr/>
        </p:nvSpPr>
        <p:spPr>
          <a:xfrm>
            <a:off x="6217920" y="338328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217920" y="3749040"/>
            <a:ext cx="457200" cy="18288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71" name="Text 69"/>
          <p:cNvSpPr/>
          <p:nvPr/>
        </p:nvSpPr>
        <p:spPr>
          <a:xfrm>
            <a:off x="6217920" y="386791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dialogue doesn't pause while you look up a word.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79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759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0138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6897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40277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3656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7036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10415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795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175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0554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03934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7313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50693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74072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97452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20831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44211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67590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90970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92608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SECTION 02 / 08  //  SOLUTION.INIT()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LINGUA_FRANCA // v1.0.0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15400" y="114300"/>
            <a:ext cx="6400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76495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READY   ●   UPLINK STABLE   ●   RED_CAMBRIA @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4" name="Shape 32"/>
          <p:cNvSpPr/>
          <p:nvPr/>
        </p:nvSpPr>
        <p:spPr>
          <a:xfrm>
            <a:off x="8778240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5" name="Shape 33"/>
          <p:cNvSpPr/>
          <p:nvPr/>
        </p:nvSpPr>
        <p:spPr>
          <a:xfrm>
            <a:off x="8956548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6" name="Shape 34"/>
          <p:cNvSpPr/>
          <p:nvPr/>
        </p:nvSpPr>
        <p:spPr>
          <a:xfrm>
            <a:off x="164592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7" name="Shape 35"/>
          <p:cNvSpPr/>
          <p:nvPr/>
        </p:nvSpPr>
        <p:spPr>
          <a:xfrm>
            <a:off x="164592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8" name="Shape 36"/>
          <p:cNvSpPr/>
          <p:nvPr/>
        </p:nvSpPr>
        <p:spPr>
          <a:xfrm>
            <a:off x="8778240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9" name="Shape 37"/>
          <p:cNvSpPr/>
          <p:nvPr/>
        </p:nvSpPr>
        <p:spPr>
          <a:xfrm>
            <a:off x="8956548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SOLUTION.INIT()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7589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42" name="Shape 40"/>
          <p:cNvSpPr/>
          <p:nvPr/>
        </p:nvSpPr>
        <p:spPr>
          <a:xfrm>
            <a:off x="365760" y="1417320"/>
            <a:ext cx="548640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3" name="Shape 41"/>
          <p:cNvSpPr/>
          <p:nvPr/>
        </p:nvSpPr>
        <p:spPr>
          <a:xfrm>
            <a:off x="960120" y="1417320"/>
            <a:ext cx="7772400" cy="22860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1600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language coaching directly on smart glasses — phrases, translations, and phonetic guides appear in your field of view exactly when you need them.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47472" y="2331720"/>
            <a:ext cx="2029968" cy="214884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" y="2331720"/>
            <a:ext cx="73152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7" name="Shape 45"/>
          <p:cNvSpPr/>
          <p:nvPr/>
        </p:nvSpPr>
        <p:spPr>
          <a:xfrm>
            <a:off x="347472" y="2331720"/>
            <a:ext cx="22860" cy="731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8" name="Shape 46"/>
          <p:cNvSpPr/>
          <p:nvPr/>
        </p:nvSpPr>
        <p:spPr>
          <a:xfrm>
            <a:off x="512064" y="2514600"/>
            <a:ext cx="1152144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00FF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2514600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[HUD.RENDER]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2064" y="292608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HEADS-UP DISPLAY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12064" y="3538728"/>
            <a:ext cx="365760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2" name="Text 50"/>
          <p:cNvSpPr/>
          <p:nvPr/>
        </p:nvSpPr>
        <p:spPr>
          <a:xfrm>
            <a:off x="512064" y="3648456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Phrases appear on 576×288 green micro-LED — no phone needed.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487168" y="2331720"/>
            <a:ext cx="2029968" cy="214884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87168" y="2331720"/>
            <a:ext cx="73152" cy="22860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55" name="Shape 53"/>
          <p:cNvSpPr/>
          <p:nvPr/>
        </p:nvSpPr>
        <p:spPr>
          <a:xfrm>
            <a:off x="2487168" y="2331720"/>
            <a:ext cx="22860" cy="73152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56" name="Shape 54"/>
          <p:cNvSpPr/>
          <p:nvPr/>
        </p:nvSpPr>
        <p:spPr>
          <a:xfrm>
            <a:off x="2651760" y="2514600"/>
            <a:ext cx="1152144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3CA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51760" y="2514600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3CA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[STT.STREAM]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651760" y="292608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SPEECH-TO-TEXT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651760" y="3538728"/>
            <a:ext cx="365760" cy="18288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60" name="Text 58"/>
          <p:cNvSpPr/>
          <p:nvPr/>
        </p:nvSpPr>
        <p:spPr>
          <a:xfrm>
            <a:off x="2651760" y="3648456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Smallest.ai Pulse streams speech in real-time @ 64ms latency.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26864" y="2331720"/>
            <a:ext cx="2029968" cy="214884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26864" y="2331720"/>
            <a:ext cx="73152" cy="22860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63" name="Shape 61"/>
          <p:cNvSpPr/>
          <p:nvPr/>
        </p:nvSpPr>
        <p:spPr>
          <a:xfrm>
            <a:off x="4626864" y="2331720"/>
            <a:ext cx="22860" cy="73152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64" name="Shape 62"/>
          <p:cNvSpPr/>
          <p:nvPr/>
        </p:nvSpPr>
        <p:spPr>
          <a:xfrm>
            <a:off x="4791456" y="2514600"/>
            <a:ext cx="918972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B06BD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91456" y="2514600"/>
            <a:ext cx="9189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06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[LANG.21]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791456" y="292608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LANGUAGES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4791456" y="3538728"/>
            <a:ext cx="365760" cy="18288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68" name="Text 66"/>
          <p:cNvSpPr/>
          <p:nvPr/>
        </p:nvSpPr>
        <p:spPr>
          <a:xfrm>
            <a:off x="4791456" y="3648456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Japanese → Arabic, with romanization + phonetic guides.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766560" y="2331720"/>
            <a:ext cx="2029968" cy="214884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0" y="2331720"/>
            <a:ext cx="73152" cy="228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1" name="Shape 69"/>
          <p:cNvSpPr/>
          <p:nvPr/>
        </p:nvSpPr>
        <p:spPr>
          <a:xfrm>
            <a:off x="6766560" y="2331720"/>
            <a:ext cx="2286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2" name="Shape 70"/>
          <p:cNvSpPr/>
          <p:nvPr/>
        </p:nvSpPr>
        <p:spPr>
          <a:xfrm>
            <a:off x="6931152" y="2514600"/>
            <a:ext cx="1307592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31152" y="2514600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[TOUCH.TEMPLE]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931152" y="292608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 &amp; TAP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6931152" y="3538728"/>
            <a:ext cx="365760" cy="18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6" name="Text 74"/>
          <p:cNvSpPr/>
          <p:nvPr/>
        </p:nvSpPr>
        <p:spPr>
          <a:xfrm>
            <a:off x="6931152" y="3648456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 scenarios on the glasses temple — no phone touch needed.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79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759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0138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6897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40277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3656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7036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10415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795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175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0554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03934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7313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50693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74072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97452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20831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44211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67590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90970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92608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SECTION 03 / 08  //  PIPELINE.FLOW()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LINGUA_FRANCA // v1.0.0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15400" y="114300"/>
            <a:ext cx="6400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76495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READY   ●   UPLINK STABLE   ●   RED_CAMBRIA @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4" name="Shape 32"/>
          <p:cNvSpPr/>
          <p:nvPr/>
        </p:nvSpPr>
        <p:spPr>
          <a:xfrm>
            <a:off x="8778240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5" name="Shape 33"/>
          <p:cNvSpPr/>
          <p:nvPr/>
        </p:nvSpPr>
        <p:spPr>
          <a:xfrm>
            <a:off x="8956548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6" name="Shape 34"/>
          <p:cNvSpPr/>
          <p:nvPr/>
        </p:nvSpPr>
        <p:spPr>
          <a:xfrm>
            <a:off x="164592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7" name="Shape 35"/>
          <p:cNvSpPr/>
          <p:nvPr/>
        </p:nvSpPr>
        <p:spPr>
          <a:xfrm>
            <a:off x="164592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8" name="Shape 36"/>
          <p:cNvSpPr/>
          <p:nvPr/>
        </p:nvSpPr>
        <p:spPr>
          <a:xfrm>
            <a:off x="8778240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9" name="Shape 37"/>
          <p:cNvSpPr/>
          <p:nvPr/>
        </p:nvSpPr>
        <p:spPr>
          <a:xfrm>
            <a:off x="8956548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PIPELINE.FLOW()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7589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42" name="Shape 40"/>
          <p:cNvSpPr/>
          <p:nvPr/>
        </p:nvSpPr>
        <p:spPr>
          <a:xfrm>
            <a:off x="365760" y="1417320"/>
            <a:ext cx="548640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3" name="Shape 41"/>
          <p:cNvSpPr/>
          <p:nvPr/>
        </p:nvSpPr>
        <p:spPr>
          <a:xfrm>
            <a:off x="960120" y="1417320"/>
            <a:ext cx="7772400" cy="22860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" y="2194560"/>
            <a:ext cx="1965960" cy="219456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" y="2194560"/>
            <a:ext cx="73152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" y="2194560"/>
            <a:ext cx="22860" cy="731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" y="23042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200" dirty="0"/>
          </a:p>
        </p:txBody>
      </p:sp>
      <p:sp>
        <p:nvSpPr>
          <p:cNvPr id="48" name="Shape 46"/>
          <p:cNvSpPr/>
          <p:nvPr/>
        </p:nvSpPr>
        <p:spPr>
          <a:xfrm>
            <a:off x="1728216" y="2359152"/>
            <a:ext cx="640080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0088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28216" y="23591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2648" y="2880360"/>
            <a:ext cx="1636776" cy="18288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51" name="Text 49"/>
          <p:cNvSpPr/>
          <p:nvPr/>
        </p:nvSpPr>
        <p:spPr>
          <a:xfrm>
            <a:off x="612648" y="297180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LANGUAGE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12648" y="34747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from 21 targets with native script support.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2648" y="411480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lang.select()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432304" y="3273552"/>
            <a:ext cx="91440" cy="32004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5" name="Text 53"/>
          <p:cNvSpPr/>
          <p:nvPr/>
        </p:nvSpPr>
        <p:spPr>
          <a:xfrm>
            <a:off x="2423160" y="316382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542032" y="2194560"/>
            <a:ext cx="1965960" cy="219456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42032" y="2194560"/>
            <a:ext cx="73152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8" name="Shape 56"/>
          <p:cNvSpPr/>
          <p:nvPr/>
        </p:nvSpPr>
        <p:spPr>
          <a:xfrm>
            <a:off x="2542032" y="2194560"/>
            <a:ext cx="22860" cy="731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9" name="Text 57"/>
          <p:cNvSpPr/>
          <p:nvPr/>
        </p:nvSpPr>
        <p:spPr>
          <a:xfrm>
            <a:off x="2706624" y="23042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200" dirty="0"/>
          </a:p>
        </p:txBody>
      </p:sp>
      <p:sp>
        <p:nvSpPr>
          <p:cNvPr id="60" name="Shape 58"/>
          <p:cNvSpPr/>
          <p:nvPr/>
        </p:nvSpPr>
        <p:spPr>
          <a:xfrm>
            <a:off x="3822192" y="2359152"/>
            <a:ext cx="640080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0088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22192" y="23591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706624" y="2880360"/>
            <a:ext cx="1636776" cy="18288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63" name="Text 61"/>
          <p:cNvSpPr/>
          <p:nvPr/>
        </p:nvSpPr>
        <p:spPr>
          <a:xfrm>
            <a:off x="2706624" y="297180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SCENE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706624" y="34747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scenario groups: Social · Food · Compliments · Navigation · Formal.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706624" y="411480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scene.load()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26280" y="3273552"/>
            <a:ext cx="91440" cy="32004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67" name="Text 65"/>
          <p:cNvSpPr/>
          <p:nvPr/>
        </p:nvSpPr>
        <p:spPr>
          <a:xfrm>
            <a:off x="4517136" y="316382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4636008" y="2194560"/>
            <a:ext cx="1965960" cy="219456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6008" y="2194560"/>
            <a:ext cx="73152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0" name="Shape 68"/>
          <p:cNvSpPr/>
          <p:nvPr/>
        </p:nvSpPr>
        <p:spPr>
          <a:xfrm>
            <a:off x="4636008" y="2194560"/>
            <a:ext cx="22860" cy="731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1" name="Text 69"/>
          <p:cNvSpPr/>
          <p:nvPr/>
        </p:nvSpPr>
        <p:spPr>
          <a:xfrm>
            <a:off x="4800600" y="23042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200" dirty="0"/>
          </a:p>
        </p:txBody>
      </p:sp>
      <p:sp>
        <p:nvSpPr>
          <p:cNvPr id="72" name="Shape 70"/>
          <p:cNvSpPr/>
          <p:nvPr/>
        </p:nvSpPr>
        <p:spPr>
          <a:xfrm>
            <a:off x="5916168" y="2359152"/>
            <a:ext cx="640080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0088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16168" y="23591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800600" y="2880360"/>
            <a:ext cx="1636776" cy="18288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75" name="Text 73"/>
          <p:cNvSpPr/>
          <p:nvPr/>
        </p:nvSpPr>
        <p:spPr>
          <a:xfrm>
            <a:off x="4800600" y="297180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PHRASES ON GLASS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800600" y="34747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+ translation + phonetics rendered as sprites on the HUD.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800600" y="411480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hud.push()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620256" y="3273552"/>
            <a:ext cx="91440" cy="32004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79" name="Text 77"/>
          <p:cNvSpPr/>
          <p:nvPr/>
        </p:nvSpPr>
        <p:spPr>
          <a:xfrm>
            <a:off x="6611112" y="316382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6729984" y="2194560"/>
            <a:ext cx="1965960" cy="219456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29984" y="2194560"/>
            <a:ext cx="73152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82" name="Shape 80"/>
          <p:cNvSpPr/>
          <p:nvPr/>
        </p:nvSpPr>
        <p:spPr>
          <a:xfrm>
            <a:off x="6729984" y="2194560"/>
            <a:ext cx="22860" cy="73152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83" name="Text 81"/>
          <p:cNvSpPr/>
          <p:nvPr/>
        </p:nvSpPr>
        <p:spPr>
          <a:xfrm>
            <a:off x="6894576" y="23042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200" dirty="0"/>
          </a:p>
        </p:txBody>
      </p:sp>
      <p:sp>
        <p:nvSpPr>
          <p:cNvPr id="84" name="Shape 82"/>
          <p:cNvSpPr/>
          <p:nvPr/>
        </p:nvSpPr>
        <p:spPr>
          <a:xfrm>
            <a:off x="8010144" y="2359152"/>
            <a:ext cx="640080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00882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10144" y="23591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894576" y="2880360"/>
            <a:ext cx="1636776" cy="18288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87" name="Text 85"/>
          <p:cNvSpPr/>
          <p:nvPr/>
        </p:nvSpPr>
        <p:spPr>
          <a:xfrm>
            <a:off x="6894576" y="297180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 &amp; LISTEN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894576" y="34747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Smallest.ai Pulse captures your conversation in real-time.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894576" y="411480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stt.stream()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11480" y="4608576"/>
            <a:ext cx="91440" cy="9144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91" name="Text 89"/>
          <p:cNvSpPr/>
          <p:nvPr/>
        </p:nvSpPr>
        <p:spPr>
          <a:xfrm>
            <a:off x="54864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ACTIVE  //  PROCESSING...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79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759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0138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6897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40277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3656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7036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10415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795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175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0554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03934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7313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50693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74072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97452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20831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44211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67590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90970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92608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SECTION 04 / 08  //  STACK.ENUMERATE()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LINGUA_FRANCA // v1.0.0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15400" y="114300"/>
            <a:ext cx="6400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76495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READY   ●   UPLINK STABLE   ●   RED_CAMBRIA @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4" name="Shape 32"/>
          <p:cNvSpPr/>
          <p:nvPr/>
        </p:nvSpPr>
        <p:spPr>
          <a:xfrm>
            <a:off x="8778240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5" name="Shape 33"/>
          <p:cNvSpPr/>
          <p:nvPr/>
        </p:nvSpPr>
        <p:spPr>
          <a:xfrm>
            <a:off x="8956548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6" name="Shape 34"/>
          <p:cNvSpPr/>
          <p:nvPr/>
        </p:nvSpPr>
        <p:spPr>
          <a:xfrm>
            <a:off x="164592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7" name="Shape 35"/>
          <p:cNvSpPr/>
          <p:nvPr/>
        </p:nvSpPr>
        <p:spPr>
          <a:xfrm>
            <a:off x="164592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8" name="Shape 36"/>
          <p:cNvSpPr/>
          <p:nvPr/>
        </p:nvSpPr>
        <p:spPr>
          <a:xfrm>
            <a:off x="8778240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9" name="Shape 37"/>
          <p:cNvSpPr/>
          <p:nvPr/>
        </p:nvSpPr>
        <p:spPr>
          <a:xfrm>
            <a:off x="8956548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STACK.ENUMERATE()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7589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2" name="Shape 40"/>
          <p:cNvSpPr/>
          <p:nvPr/>
        </p:nvSpPr>
        <p:spPr>
          <a:xfrm>
            <a:off x="365760" y="1417320"/>
            <a:ext cx="548640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3" name="Shape 41"/>
          <p:cNvSpPr/>
          <p:nvPr/>
        </p:nvSpPr>
        <p:spPr>
          <a:xfrm>
            <a:off x="960120" y="1417320"/>
            <a:ext cx="7772400" cy="22860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1371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MODULE_ID           COMPONENT                    STATUS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1645920"/>
            <a:ext cx="566928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46" name="Shape 44"/>
          <p:cNvSpPr/>
          <p:nvPr/>
        </p:nvSpPr>
        <p:spPr>
          <a:xfrm>
            <a:off x="365760" y="1691640"/>
            <a:ext cx="5669280" cy="466344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" y="169164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hw.g2         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783080" y="17282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 REALITIES G2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783080" y="1929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576×288 · 4-bit gray · green micro-LED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120640" y="1819656"/>
            <a:ext cx="841248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00FF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181965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[ONLINE]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5488" y="219456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sdk.hub       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783080" y="2231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EVENHUB SDK v0.0.9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783080" y="24323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Bluetooth LE · sprite render · audio capture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20640" y="2322576"/>
            <a:ext cx="841248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00FF4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0" y="232257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[ONLINE]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2697480"/>
            <a:ext cx="5669280" cy="466344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58" name="Text 56"/>
          <p:cNvSpPr/>
          <p:nvPr/>
        </p:nvSpPr>
        <p:spPr>
          <a:xfrm>
            <a:off x="475488" y="269748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stt.pulse     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783080" y="2734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SMALLEST.AI PULSE STT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783080" y="2935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 · 64ms TTFT · 30+ langs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120640" y="2825496"/>
            <a:ext cx="841248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3CA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20640" y="282549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3CA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[STREAM]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75488" y="320040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app.core      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783080" y="3236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+ VITE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783080" y="34381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Modular code · fast HMR · GitHub Pages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120640" y="3328416"/>
            <a:ext cx="763524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3328416"/>
            <a:ext cx="7635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[BUILD]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65760" y="3703320"/>
            <a:ext cx="5669280" cy="466344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" y="3703320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gfx.sprite    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783080" y="37398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SPRITE SYSTEM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783080" y="3941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D3-rendered PNGs pushed via SDK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120640" y="3831336"/>
            <a:ext cx="841248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B06BD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0640" y="383133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06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[ACTIVE]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263640" y="13716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263640" y="1645920"/>
            <a:ext cx="25146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76" name="Shape 74"/>
          <p:cNvSpPr/>
          <p:nvPr/>
        </p:nvSpPr>
        <p:spPr>
          <a:xfrm>
            <a:off x="6263640" y="1737360"/>
            <a:ext cx="2514600" cy="384048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73368" y="17647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G2 GLASSES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373368" y="19385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8577072" y="1883664"/>
            <a:ext cx="91440" cy="9144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80" name="Shape 78"/>
          <p:cNvSpPr/>
          <p:nvPr/>
        </p:nvSpPr>
        <p:spPr>
          <a:xfrm>
            <a:off x="7511796" y="2121408"/>
            <a:ext cx="18288" cy="10972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81" name="Shape 79"/>
          <p:cNvSpPr/>
          <p:nvPr/>
        </p:nvSpPr>
        <p:spPr>
          <a:xfrm>
            <a:off x="6263640" y="2231136"/>
            <a:ext cx="2514600" cy="384048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73368" y="225856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EVENHUB SDK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373368" y="243230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bluetooth LE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577072" y="2377440"/>
            <a:ext cx="91440" cy="9144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85" name="Shape 83"/>
          <p:cNvSpPr/>
          <p:nvPr/>
        </p:nvSpPr>
        <p:spPr>
          <a:xfrm>
            <a:off x="7511796" y="2615184"/>
            <a:ext cx="18288" cy="10972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86" name="Shape 84"/>
          <p:cNvSpPr/>
          <p:nvPr/>
        </p:nvSpPr>
        <p:spPr>
          <a:xfrm>
            <a:off x="6263640" y="2724912"/>
            <a:ext cx="2514600" cy="384048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73368" y="275234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DASHBOARD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6373368" y="292608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/ vite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577072" y="2871216"/>
            <a:ext cx="91440" cy="9144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90" name="Shape 88"/>
          <p:cNvSpPr/>
          <p:nvPr/>
        </p:nvSpPr>
        <p:spPr>
          <a:xfrm>
            <a:off x="7511796" y="3108960"/>
            <a:ext cx="18288" cy="10972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91" name="Shape 89"/>
          <p:cNvSpPr/>
          <p:nvPr/>
        </p:nvSpPr>
        <p:spPr>
          <a:xfrm>
            <a:off x="6263640" y="3218688"/>
            <a:ext cx="2514600" cy="384048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373368" y="32461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PROXY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6373368" y="3419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577072" y="3364992"/>
            <a:ext cx="91440" cy="91440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95" name="Shape 93"/>
          <p:cNvSpPr/>
          <p:nvPr/>
        </p:nvSpPr>
        <p:spPr>
          <a:xfrm>
            <a:off x="7511796" y="3602736"/>
            <a:ext cx="18288" cy="10972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96" name="Shape 94"/>
          <p:cNvSpPr/>
          <p:nvPr/>
        </p:nvSpPr>
        <p:spPr>
          <a:xfrm>
            <a:off x="6263640" y="3712464"/>
            <a:ext cx="2514600" cy="384048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73368" y="373989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SMALLEST.AI STT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6373368" y="391363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8577072" y="3858768"/>
            <a:ext cx="91440" cy="91440"/>
          </a:xfrm>
          <a:prstGeom prst="ellipse">
            <a:avLst/>
          </a:prstGeom>
          <a:solidFill>
            <a:srgbClr val="00FF4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79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759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0138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6897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40277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3656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7036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10415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795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175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0554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03934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7313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50693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74072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97452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20831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44211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67590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90970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92608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SECTION 05 / 08  //  FEATURES.LIST()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LINGUA_FRANCA // v1.0.0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15400" y="114300"/>
            <a:ext cx="6400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76495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READY   ●   UPLINK STABLE   ●   RED_CAMBRIA @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4" name="Shape 32"/>
          <p:cNvSpPr/>
          <p:nvPr/>
        </p:nvSpPr>
        <p:spPr>
          <a:xfrm>
            <a:off x="8778240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5" name="Shape 33"/>
          <p:cNvSpPr/>
          <p:nvPr/>
        </p:nvSpPr>
        <p:spPr>
          <a:xfrm>
            <a:off x="8956548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6" name="Shape 34"/>
          <p:cNvSpPr/>
          <p:nvPr/>
        </p:nvSpPr>
        <p:spPr>
          <a:xfrm>
            <a:off x="164592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7" name="Shape 35"/>
          <p:cNvSpPr/>
          <p:nvPr/>
        </p:nvSpPr>
        <p:spPr>
          <a:xfrm>
            <a:off x="164592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8" name="Shape 36"/>
          <p:cNvSpPr/>
          <p:nvPr/>
        </p:nvSpPr>
        <p:spPr>
          <a:xfrm>
            <a:off x="8778240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9" name="Shape 37"/>
          <p:cNvSpPr/>
          <p:nvPr/>
        </p:nvSpPr>
        <p:spPr>
          <a:xfrm>
            <a:off x="8956548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FEATURES.LIST()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7589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42" name="Shape 40"/>
          <p:cNvSpPr/>
          <p:nvPr/>
        </p:nvSpPr>
        <p:spPr>
          <a:xfrm>
            <a:off x="365760" y="1417320"/>
            <a:ext cx="548640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3" name="Shape 41"/>
          <p:cNvSpPr/>
          <p:nvPr/>
        </p:nvSpPr>
        <p:spPr>
          <a:xfrm>
            <a:off x="960120" y="1417320"/>
            <a:ext cx="7772400" cy="22860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44" name="Shape 42"/>
          <p:cNvSpPr/>
          <p:nvPr/>
        </p:nvSpPr>
        <p:spPr>
          <a:xfrm>
            <a:off x="406908" y="1737360"/>
            <a:ext cx="2697480" cy="1325880"/>
          </a:xfrm>
          <a:prstGeom prst="rect">
            <a:avLst/>
          </a:prstGeom>
          <a:solidFill>
            <a:srgbClr val="0B0F13"/>
          </a:solidFill>
          <a:ln w="9525">
            <a:solidFill>
              <a:srgbClr val="FFD7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6908" y="1737360"/>
            <a:ext cx="73152" cy="228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6" name="Shape 44"/>
          <p:cNvSpPr/>
          <p:nvPr/>
        </p:nvSpPr>
        <p:spPr>
          <a:xfrm>
            <a:off x="406908" y="1737360"/>
            <a:ext cx="2286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7" name="Shape 45"/>
          <p:cNvSpPr/>
          <p:nvPr/>
        </p:nvSpPr>
        <p:spPr>
          <a:xfrm>
            <a:off x="544068" y="1865376"/>
            <a:ext cx="1074420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068" y="1865376"/>
            <a:ext cx="1074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LEGENDARY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4068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PHRASE TEMPLATES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4068" y="2487168"/>
            <a:ext cx="320040" cy="18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1" name="Text 49"/>
          <p:cNvSpPr/>
          <p:nvPr/>
        </p:nvSpPr>
        <p:spPr>
          <a:xfrm>
            <a:off x="544068" y="25786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flirty hellos to formal thanks — real social scenarios.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23260" y="1737360"/>
            <a:ext cx="2697480" cy="132588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23260" y="1737360"/>
            <a:ext cx="73152" cy="22860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54" name="Shape 52"/>
          <p:cNvSpPr/>
          <p:nvPr/>
        </p:nvSpPr>
        <p:spPr>
          <a:xfrm>
            <a:off x="3223260" y="1737360"/>
            <a:ext cx="22860" cy="73152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55" name="Shape 53"/>
          <p:cNvSpPr/>
          <p:nvPr/>
        </p:nvSpPr>
        <p:spPr>
          <a:xfrm>
            <a:off x="3360420" y="1865376"/>
            <a:ext cx="685800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B06B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60420" y="18653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06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EPIC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360420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TRANSLATION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360420" y="2487168"/>
            <a:ext cx="320040" cy="18288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59" name="Text 57"/>
          <p:cNvSpPr/>
          <p:nvPr/>
        </p:nvSpPr>
        <p:spPr>
          <a:xfrm>
            <a:off x="3360420" y="25786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English + native script + romanization + phonetics.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39612" y="1737360"/>
            <a:ext cx="2697480" cy="132588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39612" y="1737360"/>
            <a:ext cx="73152" cy="22860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62" name="Shape 60"/>
          <p:cNvSpPr/>
          <p:nvPr/>
        </p:nvSpPr>
        <p:spPr>
          <a:xfrm>
            <a:off x="6039612" y="1737360"/>
            <a:ext cx="22860" cy="73152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63" name="Shape 61"/>
          <p:cNvSpPr/>
          <p:nvPr/>
        </p:nvSpPr>
        <p:spPr>
          <a:xfrm>
            <a:off x="6176772" y="1865376"/>
            <a:ext cx="685800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B06B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76772" y="18653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06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EPIC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176772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AUTO-LISTEN MODE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176772" y="2487168"/>
            <a:ext cx="320040" cy="18288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67" name="Text 65"/>
          <p:cNvSpPr/>
          <p:nvPr/>
        </p:nvSpPr>
        <p:spPr>
          <a:xfrm>
            <a:off x="6176772" y="25786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 opens automatically when entering speak mode.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06908" y="3209544"/>
            <a:ext cx="2697480" cy="132588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06908" y="3209544"/>
            <a:ext cx="73152" cy="22860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70" name="Shape 68"/>
          <p:cNvSpPr/>
          <p:nvPr/>
        </p:nvSpPr>
        <p:spPr>
          <a:xfrm>
            <a:off x="406908" y="3209544"/>
            <a:ext cx="22860" cy="73152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71" name="Shape 69"/>
          <p:cNvSpPr/>
          <p:nvPr/>
        </p:nvSpPr>
        <p:spPr>
          <a:xfrm>
            <a:off x="544068" y="3337560"/>
            <a:ext cx="685800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3CA0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4068" y="333756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3CA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◈ RARE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4068" y="36210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SLOT-BASED PHRASES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44068" y="3959352"/>
            <a:ext cx="320040" cy="18288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75" name="Text 73"/>
          <p:cNvSpPr/>
          <p:nvPr/>
        </p:nvSpPr>
        <p:spPr>
          <a:xfrm>
            <a:off x="544068" y="4050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vocab fills: [DRINKS], [FOOD], [GREETING].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223260" y="3209544"/>
            <a:ext cx="2697480" cy="132588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23260" y="3209544"/>
            <a:ext cx="73152" cy="22860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78" name="Shape 76"/>
          <p:cNvSpPr/>
          <p:nvPr/>
        </p:nvSpPr>
        <p:spPr>
          <a:xfrm>
            <a:off x="3223260" y="3209544"/>
            <a:ext cx="22860" cy="73152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79" name="Shape 77"/>
          <p:cNvSpPr/>
          <p:nvPr/>
        </p:nvSpPr>
        <p:spPr>
          <a:xfrm>
            <a:off x="3360420" y="3337560"/>
            <a:ext cx="685800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3CA0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60420" y="333756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3CA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◈ RARE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360420" y="36210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TUMBLER NAVIGATION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3360420" y="3959352"/>
            <a:ext cx="320040" cy="18288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83" name="Text 81"/>
          <p:cNvSpPr/>
          <p:nvPr/>
        </p:nvSpPr>
        <p:spPr>
          <a:xfrm>
            <a:off x="3360420" y="4050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 through languages and scenarios on the glasses.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039612" y="3209544"/>
            <a:ext cx="2697480" cy="1325880"/>
          </a:xfrm>
          <a:prstGeom prst="rect">
            <a:avLst/>
          </a:prstGeom>
          <a:solidFill>
            <a:srgbClr val="0B0F13"/>
          </a:solidFill>
          <a:ln w="9525">
            <a:solidFill>
              <a:srgbClr val="FFD7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039612" y="3209544"/>
            <a:ext cx="73152" cy="228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86" name="Shape 84"/>
          <p:cNvSpPr/>
          <p:nvPr/>
        </p:nvSpPr>
        <p:spPr>
          <a:xfrm>
            <a:off x="6039612" y="3209544"/>
            <a:ext cx="22860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87" name="Shape 85"/>
          <p:cNvSpPr/>
          <p:nvPr/>
        </p:nvSpPr>
        <p:spPr>
          <a:xfrm>
            <a:off x="6176772" y="3337560"/>
            <a:ext cx="1074420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76772" y="3337560"/>
            <a:ext cx="1074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LEGENDARY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176772" y="36210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 PUSH TO G2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6176772" y="3959352"/>
            <a:ext cx="320040" cy="1828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91" name="Text 89"/>
          <p:cNvSpPr/>
          <p:nvPr/>
        </p:nvSpPr>
        <p:spPr>
          <a:xfrm>
            <a:off x="6176772" y="4050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tap sends any phrase to the glasses HUD.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365760" y="45537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RARITY: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005840" y="45537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LEGENDARY    ◆ EPIC    ◈ RARE    ○ UNCOMMON    · COMMON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79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759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0138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6897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40277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3656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7036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10415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795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175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0554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03934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7313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50693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74072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97452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20831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44211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67590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90970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92608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SECTION 06 / 08  //  LANG.CATALOGUE()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LINGUA_FRANCA // v1.0.0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15400" y="114300"/>
            <a:ext cx="6400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76495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READY   ●   UPLINK STABLE   ●   RED_CAMBRIA @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4" name="Shape 32"/>
          <p:cNvSpPr/>
          <p:nvPr/>
        </p:nvSpPr>
        <p:spPr>
          <a:xfrm>
            <a:off x="8778240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5" name="Shape 33"/>
          <p:cNvSpPr/>
          <p:nvPr/>
        </p:nvSpPr>
        <p:spPr>
          <a:xfrm>
            <a:off x="8956548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6" name="Shape 34"/>
          <p:cNvSpPr/>
          <p:nvPr/>
        </p:nvSpPr>
        <p:spPr>
          <a:xfrm>
            <a:off x="164592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7" name="Shape 35"/>
          <p:cNvSpPr/>
          <p:nvPr/>
        </p:nvSpPr>
        <p:spPr>
          <a:xfrm>
            <a:off x="164592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8" name="Shape 36"/>
          <p:cNvSpPr/>
          <p:nvPr/>
        </p:nvSpPr>
        <p:spPr>
          <a:xfrm>
            <a:off x="8778240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9" name="Shape 37"/>
          <p:cNvSpPr/>
          <p:nvPr/>
        </p:nvSpPr>
        <p:spPr>
          <a:xfrm>
            <a:off x="8956548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LANG.CATALOGUE()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7589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LANGUAGES</a:t>
            </a:r>
            <a:endParaRPr lang="en-US" sz="3400" dirty="0"/>
          </a:p>
        </p:txBody>
      </p:sp>
      <p:sp>
        <p:nvSpPr>
          <p:cNvPr id="42" name="Shape 40"/>
          <p:cNvSpPr/>
          <p:nvPr/>
        </p:nvSpPr>
        <p:spPr>
          <a:xfrm>
            <a:off x="365760" y="1417320"/>
            <a:ext cx="548640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3" name="Shape 41"/>
          <p:cNvSpPr/>
          <p:nvPr/>
        </p:nvSpPr>
        <p:spPr>
          <a:xfrm>
            <a:off x="960120" y="1417320"/>
            <a:ext cx="7772400" cy="22860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15361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script · romanization · phonetic pronunciation.   [ 8 languages flagged for romanization assist ]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56032" y="1847088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" y="1847088"/>
            <a:ext cx="64008" cy="1828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256032" y="1847088"/>
            <a:ext cx="18288" cy="640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48" name="Text 46"/>
          <p:cNvSpPr/>
          <p:nvPr/>
        </p:nvSpPr>
        <p:spPr>
          <a:xfrm>
            <a:off x="347472" y="190195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47472" y="21214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Japanese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47472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日本語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499616" y="1847088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99616" y="1847088"/>
            <a:ext cx="64008" cy="1828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499616" y="1847088"/>
            <a:ext cx="18288" cy="640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54" name="Text 52"/>
          <p:cNvSpPr/>
          <p:nvPr/>
        </p:nvSpPr>
        <p:spPr>
          <a:xfrm>
            <a:off x="1591056" y="190195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CMN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591056" y="21214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Chinese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591056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中文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0" y="1847088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0" y="1847088"/>
            <a:ext cx="64008" cy="1828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2743200" y="1847088"/>
            <a:ext cx="18288" cy="640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60" name="Text 58"/>
          <p:cNvSpPr/>
          <p:nvPr/>
        </p:nvSpPr>
        <p:spPr>
          <a:xfrm>
            <a:off x="2834640" y="190195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2834640" y="21214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834640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한국어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986784" y="1847088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986784" y="1847088"/>
            <a:ext cx="64008" cy="1828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3986784" y="1847088"/>
            <a:ext cx="18288" cy="640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66" name="Text 64"/>
          <p:cNvSpPr/>
          <p:nvPr/>
        </p:nvSpPr>
        <p:spPr>
          <a:xfrm>
            <a:off x="4078224" y="190195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4078224" y="21214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Arabic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078224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العربية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230368" y="1847088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30368" y="1847088"/>
            <a:ext cx="64008" cy="1828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5230368" y="1847088"/>
            <a:ext cx="18288" cy="640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321808" y="190195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321808" y="21214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Hindi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321808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हिन्दी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473952" y="1847088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73952" y="1847088"/>
            <a:ext cx="64008" cy="1828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77" name="Shape 75"/>
          <p:cNvSpPr/>
          <p:nvPr/>
        </p:nvSpPr>
        <p:spPr>
          <a:xfrm>
            <a:off x="6473952" y="1847088"/>
            <a:ext cx="18288" cy="640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78" name="Text 76"/>
          <p:cNvSpPr/>
          <p:nvPr/>
        </p:nvSpPr>
        <p:spPr>
          <a:xfrm>
            <a:off x="6565392" y="190195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6565392" y="21214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Russian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565392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Русский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717536" y="1847088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717536" y="1847088"/>
            <a:ext cx="64008" cy="1828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83" name="Shape 81"/>
          <p:cNvSpPr/>
          <p:nvPr/>
        </p:nvSpPr>
        <p:spPr>
          <a:xfrm>
            <a:off x="7717536" y="1847088"/>
            <a:ext cx="18288" cy="640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84" name="Text 82"/>
          <p:cNvSpPr/>
          <p:nvPr/>
        </p:nvSpPr>
        <p:spPr>
          <a:xfrm>
            <a:off x="7808976" y="190195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7808976" y="21214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Thai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808976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ภาษาไทย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56032" y="2697480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56032" y="2697480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89" name="Shape 87"/>
          <p:cNvSpPr/>
          <p:nvPr/>
        </p:nvSpPr>
        <p:spPr>
          <a:xfrm>
            <a:off x="256032" y="2697480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90" name="Text 88"/>
          <p:cNvSpPr/>
          <p:nvPr/>
        </p:nvSpPr>
        <p:spPr>
          <a:xfrm>
            <a:off x="347472" y="27523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347472" y="297180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Spanish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47472" y="3154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Español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499616" y="2697480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499616" y="2697480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95" name="Shape 93"/>
          <p:cNvSpPr/>
          <p:nvPr/>
        </p:nvSpPr>
        <p:spPr>
          <a:xfrm>
            <a:off x="1499616" y="2697480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96" name="Text 94"/>
          <p:cNvSpPr/>
          <p:nvPr/>
        </p:nvSpPr>
        <p:spPr>
          <a:xfrm>
            <a:off x="1591056" y="27523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1591056" y="297180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French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591056" y="3154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Français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2743200" y="2697480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743200" y="2697480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01" name="Shape 99"/>
          <p:cNvSpPr/>
          <p:nvPr/>
        </p:nvSpPr>
        <p:spPr>
          <a:xfrm>
            <a:off x="2743200" y="2697480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02" name="Text 100"/>
          <p:cNvSpPr/>
          <p:nvPr/>
        </p:nvSpPr>
        <p:spPr>
          <a:xfrm>
            <a:off x="2834640" y="27523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ITA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2834640" y="297180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Italian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2834640" y="3154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Italiano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986784" y="2697480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986784" y="2697480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07" name="Shape 105"/>
          <p:cNvSpPr/>
          <p:nvPr/>
        </p:nvSpPr>
        <p:spPr>
          <a:xfrm>
            <a:off x="3986784" y="2697480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08" name="Text 106"/>
          <p:cNvSpPr/>
          <p:nvPr/>
        </p:nvSpPr>
        <p:spPr>
          <a:xfrm>
            <a:off x="4078224" y="27523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DEU</a:t>
            </a:r>
            <a:endParaRPr lang="en-US" sz="1300" dirty="0"/>
          </a:p>
        </p:txBody>
      </p:sp>
      <p:sp>
        <p:nvSpPr>
          <p:cNvPr id="109" name="Text 107"/>
          <p:cNvSpPr/>
          <p:nvPr/>
        </p:nvSpPr>
        <p:spPr>
          <a:xfrm>
            <a:off x="4078224" y="297180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German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4078224" y="3154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Deutsch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230368" y="2697480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230368" y="2697480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230368" y="2697480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14" name="Text 112"/>
          <p:cNvSpPr/>
          <p:nvPr/>
        </p:nvSpPr>
        <p:spPr>
          <a:xfrm>
            <a:off x="5321808" y="27523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</a:t>
            </a:r>
            <a:endParaRPr lang="en-US" sz="1300" dirty="0"/>
          </a:p>
        </p:txBody>
      </p:sp>
      <p:sp>
        <p:nvSpPr>
          <p:cNvPr id="115" name="Text 113"/>
          <p:cNvSpPr/>
          <p:nvPr/>
        </p:nvSpPr>
        <p:spPr>
          <a:xfrm>
            <a:off x="5321808" y="297180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Portuguese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5321808" y="3154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Português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6473952" y="2697480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473952" y="2697480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473952" y="2697480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20" name="Text 118"/>
          <p:cNvSpPr/>
          <p:nvPr/>
        </p:nvSpPr>
        <p:spPr>
          <a:xfrm>
            <a:off x="6565392" y="27523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NLD</a:t>
            </a:r>
            <a:endParaRPr lang="en-US" sz="1300" dirty="0"/>
          </a:p>
        </p:txBody>
      </p:sp>
      <p:sp>
        <p:nvSpPr>
          <p:cNvPr id="121" name="Text 119"/>
          <p:cNvSpPr/>
          <p:nvPr/>
        </p:nvSpPr>
        <p:spPr>
          <a:xfrm>
            <a:off x="6565392" y="297180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Dutch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6565392" y="3154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Nederlands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7717536" y="2697480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717536" y="2697480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25" name="Shape 123"/>
          <p:cNvSpPr/>
          <p:nvPr/>
        </p:nvSpPr>
        <p:spPr>
          <a:xfrm>
            <a:off x="7717536" y="2697480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26" name="Text 124"/>
          <p:cNvSpPr/>
          <p:nvPr/>
        </p:nvSpPr>
        <p:spPr>
          <a:xfrm>
            <a:off x="7808976" y="275234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</a:t>
            </a:r>
            <a:endParaRPr lang="en-US" sz="1300" dirty="0"/>
          </a:p>
        </p:txBody>
      </p:sp>
      <p:sp>
        <p:nvSpPr>
          <p:cNvPr id="127" name="Text 125"/>
          <p:cNvSpPr/>
          <p:nvPr/>
        </p:nvSpPr>
        <p:spPr>
          <a:xfrm>
            <a:off x="7808976" y="297180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Polish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7808976" y="3154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Polski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256032" y="3547872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56032" y="3547872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31" name="Shape 129"/>
          <p:cNvSpPr/>
          <p:nvPr/>
        </p:nvSpPr>
        <p:spPr>
          <a:xfrm>
            <a:off x="256032" y="3547872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32" name="Text 130"/>
          <p:cNvSpPr/>
          <p:nvPr/>
        </p:nvSpPr>
        <p:spPr>
          <a:xfrm>
            <a:off x="347472" y="36027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</a:t>
            </a:r>
            <a:endParaRPr lang="en-US" sz="1300" dirty="0"/>
          </a:p>
        </p:txBody>
      </p:sp>
      <p:sp>
        <p:nvSpPr>
          <p:cNvPr id="133" name="Text 131"/>
          <p:cNvSpPr/>
          <p:nvPr/>
        </p:nvSpPr>
        <p:spPr>
          <a:xfrm>
            <a:off x="347472" y="38221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Swedish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347472" y="400507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Svenska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1499616" y="3547872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499616" y="3547872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499616" y="3547872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38" name="Text 136"/>
          <p:cNvSpPr/>
          <p:nvPr/>
        </p:nvSpPr>
        <p:spPr>
          <a:xfrm>
            <a:off x="1591056" y="36027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</a:t>
            </a:r>
            <a:endParaRPr lang="en-US" sz="1300" dirty="0"/>
          </a:p>
        </p:txBody>
      </p:sp>
      <p:sp>
        <p:nvSpPr>
          <p:cNvPr id="139" name="Text 137"/>
          <p:cNvSpPr/>
          <p:nvPr/>
        </p:nvSpPr>
        <p:spPr>
          <a:xfrm>
            <a:off x="1591056" y="38221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Turkish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1591056" y="400507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Türkçe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2743200" y="3547872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43200" y="3547872"/>
            <a:ext cx="64008" cy="1828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743200" y="3547872"/>
            <a:ext cx="18288" cy="640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144" name="Text 142"/>
          <p:cNvSpPr/>
          <p:nvPr/>
        </p:nvSpPr>
        <p:spPr>
          <a:xfrm>
            <a:off x="2834640" y="36027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</a:t>
            </a:r>
            <a:endParaRPr lang="en-US" sz="1300" dirty="0"/>
          </a:p>
        </p:txBody>
      </p:sp>
      <p:sp>
        <p:nvSpPr>
          <p:cNvPr id="145" name="Text 143"/>
          <p:cNvSpPr/>
          <p:nvPr/>
        </p:nvSpPr>
        <p:spPr>
          <a:xfrm>
            <a:off x="2834640" y="38221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Vietnamese</a:t>
            </a:r>
            <a:endParaRPr lang="en-US" sz="900" dirty="0"/>
          </a:p>
        </p:txBody>
      </p:sp>
      <p:sp>
        <p:nvSpPr>
          <p:cNvPr id="146" name="Text 144"/>
          <p:cNvSpPr/>
          <p:nvPr/>
        </p:nvSpPr>
        <p:spPr>
          <a:xfrm>
            <a:off x="2834640" y="400507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Tiếng Việt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3986784" y="3547872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986784" y="3547872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49" name="Shape 147"/>
          <p:cNvSpPr/>
          <p:nvPr/>
        </p:nvSpPr>
        <p:spPr>
          <a:xfrm>
            <a:off x="3986784" y="3547872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50" name="Text 148"/>
          <p:cNvSpPr/>
          <p:nvPr/>
        </p:nvSpPr>
        <p:spPr>
          <a:xfrm>
            <a:off x="4078224" y="36027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</a:t>
            </a:r>
            <a:endParaRPr lang="en-US" sz="1300" dirty="0"/>
          </a:p>
        </p:txBody>
      </p:sp>
      <p:sp>
        <p:nvSpPr>
          <p:cNvPr id="151" name="Text 149"/>
          <p:cNvSpPr/>
          <p:nvPr/>
        </p:nvSpPr>
        <p:spPr>
          <a:xfrm>
            <a:off x="4078224" y="38221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Indonesian</a:t>
            </a:r>
            <a:endParaRPr lang="en-US" sz="900" dirty="0"/>
          </a:p>
        </p:txBody>
      </p:sp>
      <p:sp>
        <p:nvSpPr>
          <p:cNvPr id="152" name="Text 150"/>
          <p:cNvSpPr/>
          <p:nvPr/>
        </p:nvSpPr>
        <p:spPr>
          <a:xfrm>
            <a:off x="4078224" y="400507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Indonesia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5230368" y="3547872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230368" y="3547872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55" name="Shape 153"/>
          <p:cNvSpPr/>
          <p:nvPr/>
        </p:nvSpPr>
        <p:spPr>
          <a:xfrm>
            <a:off x="5230368" y="3547872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56" name="Text 154"/>
          <p:cNvSpPr/>
          <p:nvPr/>
        </p:nvSpPr>
        <p:spPr>
          <a:xfrm>
            <a:off x="5321808" y="36027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TGL</a:t>
            </a:r>
            <a:endParaRPr lang="en-US" sz="1300" dirty="0"/>
          </a:p>
        </p:txBody>
      </p:sp>
      <p:sp>
        <p:nvSpPr>
          <p:cNvPr id="157" name="Text 155"/>
          <p:cNvSpPr/>
          <p:nvPr/>
        </p:nvSpPr>
        <p:spPr>
          <a:xfrm>
            <a:off x="5321808" y="38221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Tagalog</a:t>
            </a:r>
            <a:endParaRPr lang="en-US" sz="900" dirty="0"/>
          </a:p>
        </p:txBody>
      </p:sp>
      <p:sp>
        <p:nvSpPr>
          <p:cNvPr id="158" name="Text 156"/>
          <p:cNvSpPr/>
          <p:nvPr/>
        </p:nvSpPr>
        <p:spPr>
          <a:xfrm>
            <a:off x="5321808" y="400507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Filipino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6473952" y="3547872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473952" y="3547872"/>
            <a:ext cx="64008" cy="1828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6473952" y="3547872"/>
            <a:ext cx="18288" cy="640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162" name="Text 160"/>
          <p:cNvSpPr/>
          <p:nvPr/>
        </p:nvSpPr>
        <p:spPr>
          <a:xfrm>
            <a:off x="6565392" y="36027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</a:t>
            </a:r>
            <a:endParaRPr lang="en-US" sz="1300" dirty="0"/>
          </a:p>
        </p:txBody>
      </p:sp>
      <p:sp>
        <p:nvSpPr>
          <p:cNvPr id="163" name="Text 161"/>
          <p:cNvSpPr/>
          <p:nvPr/>
        </p:nvSpPr>
        <p:spPr>
          <a:xfrm>
            <a:off x="6565392" y="38221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Bulgarian</a:t>
            </a:r>
            <a:endParaRPr lang="en-US" sz="900" dirty="0"/>
          </a:p>
        </p:txBody>
      </p:sp>
      <p:sp>
        <p:nvSpPr>
          <p:cNvPr id="164" name="Text 162"/>
          <p:cNvSpPr/>
          <p:nvPr/>
        </p:nvSpPr>
        <p:spPr>
          <a:xfrm>
            <a:off x="6565392" y="400507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Български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7717536" y="3547872"/>
            <a:ext cx="1170432" cy="777240"/>
          </a:xfrm>
          <a:prstGeom prst="rect">
            <a:avLst/>
          </a:prstGeom>
          <a:solidFill>
            <a:srgbClr val="0B0F13"/>
          </a:solidFill>
          <a:ln w="6350">
            <a:solidFill>
              <a:srgbClr val="1F362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17536" y="3547872"/>
            <a:ext cx="64008" cy="1828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67" name="Shape 165"/>
          <p:cNvSpPr/>
          <p:nvPr/>
        </p:nvSpPr>
        <p:spPr>
          <a:xfrm>
            <a:off x="7717536" y="3547872"/>
            <a:ext cx="1828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68" name="Text 166"/>
          <p:cNvSpPr/>
          <p:nvPr/>
        </p:nvSpPr>
        <p:spPr>
          <a:xfrm>
            <a:off x="7808976" y="3602736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</a:t>
            </a:r>
            <a:endParaRPr lang="en-US" sz="1300" dirty="0"/>
          </a:p>
        </p:txBody>
      </p:sp>
      <p:sp>
        <p:nvSpPr>
          <p:cNvPr id="169" name="Text 167"/>
          <p:cNvSpPr/>
          <p:nvPr/>
        </p:nvSpPr>
        <p:spPr>
          <a:xfrm>
            <a:off x="7808976" y="38221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English</a:t>
            </a:r>
            <a:endParaRPr lang="en-US" sz="900" dirty="0"/>
          </a:p>
        </p:txBody>
      </p:sp>
      <p:sp>
        <p:nvSpPr>
          <p:cNvPr id="170" name="Text 168"/>
          <p:cNvSpPr/>
          <p:nvPr/>
        </p:nvSpPr>
        <p:spPr>
          <a:xfrm>
            <a:off x="7808976" y="400507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English</a:t>
            </a:r>
            <a:endParaRPr lang="en-US" sz="1000" dirty="0"/>
          </a:p>
        </p:txBody>
      </p:sp>
      <p:sp>
        <p:nvSpPr>
          <p:cNvPr id="171" name="Shape 169"/>
          <p:cNvSpPr/>
          <p:nvPr/>
        </p:nvSpPr>
        <p:spPr>
          <a:xfrm>
            <a:off x="384048" y="4581144"/>
            <a:ext cx="128016" cy="3657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72" name="Text 170"/>
          <p:cNvSpPr/>
          <p:nvPr/>
        </p:nvSpPr>
        <p:spPr>
          <a:xfrm>
            <a:off x="566928" y="4526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LATIN SCRIPT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1874520" y="4581144"/>
            <a:ext cx="128016" cy="36576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174" name="Text 172"/>
          <p:cNvSpPr/>
          <p:nvPr/>
        </p:nvSpPr>
        <p:spPr>
          <a:xfrm>
            <a:off x="2057400" y="4526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ROMANIZATION ASSIST</a:t>
            </a:r>
            <a:endParaRPr lang="en-US" sz="800" dirty="0"/>
          </a:p>
        </p:txBody>
      </p:sp>
      <p:sp>
        <p:nvSpPr>
          <p:cNvPr id="175" name="Text 173"/>
          <p:cNvSpPr/>
          <p:nvPr/>
        </p:nvSpPr>
        <p:spPr>
          <a:xfrm>
            <a:off x="5029200" y="4526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21 LOADED  ●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79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759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0138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6897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40277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3656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7036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10415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795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175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0554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03934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7313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50693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74072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97452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20831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44211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67590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90970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92608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SECTION 07 / 08  //  QUEUE.PENDING()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LINGUA_FRANCA // v1.0.0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15400" y="114300"/>
            <a:ext cx="6400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76495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READY   ●   UPLINK STABLE   ●   RED_CAMBRIA @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4" name="Shape 32"/>
          <p:cNvSpPr/>
          <p:nvPr/>
        </p:nvSpPr>
        <p:spPr>
          <a:xfrm>
            <a:off x="8778240" y="164592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5" name="Shape 33"/>
          <p:cNvSpPr/>
          <p:nvPr/>
        </p:nvSpPr>
        <p:spPr>
          <a:xfrm>
            <a:off x="8956548" y="164592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6" name="Shape 34"/>
          <p:cNvSpPr/>
          <p:nvPr/>
        </p:nvSpPr>
        <p:spPr>
          <a:xfrm>
            <a:off x="164592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7" name="Shape 35"/>
          <p:cNvSpPr/>
          <p:nvPr/>
        </p:nvSpPr>
        <p:spPr>
          <a:xfrm>
            <a:off x="164592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8" name="Shape 36"/>
          <p:cNvSpPr/>
          <p:nvPr/>
        </p:nvSpPr>
        <p:spPr>
          <a:xfrm>
            <a:off x="8778240" y="4956048"/>
            <a:ext cx="201168" cy="22860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39" name="Shape 37"/>
          <p:cNvSpPr/>
          <p:nvPr/>
        </p:nvSpPr>
        <p:spPr>
          <a:xfrm>
            <a:off x="8956548" y="4777740"/>
            <a:ext cx="22860" cy="201168"/>
          </a:xfrm>
          <a:prstGeom prst="rect">
            <a:avLst/>
          </a:prstGeom>
          <a:solidFill>
            <a:srgbClr val="003D0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QUEUE.PENDING()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7589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6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42" name="Shape 40"/>
          <p:cNvSpPr/>
          <p:nvPr/>
        </p:nvSpPr>
        <p:spPr>
          <a:xfrm>
            <a:off x="365760" y="1417320"/>
            <a:ext cx="548640" cy="22860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43" name="Shape 41"/>
          <p:cNvSpPr/>
          <p:nvPr/>
        </p:nvSpPr>
        <p:spPr>
          <a:xfrm>
            <a:off x="960120" y="1417320"/>
            <a:ext cx="7772400" cy="22860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1783080"/>
            <a:ext cx="4069080" cy="128016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1783080"/>
            <a:ext cx="73152" cy="22860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411480" y="1783080"/>
            <a:ext cx="22860" cy="73152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521208" y="1892808"/>
            <a:ext cx="54864" cy="1060704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685800" y="1947672"/>
            <a:ext cx="640080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FFB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19476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B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[DEV]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" y="2221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CONVERSATION COACH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85800" y="2633472"/>
            <a:ext cx="320040" cy="1828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suggestions based on what the other person says.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1783080"/>
            <a:ext cx="4069080" cy="128016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1783080"/>
            <a:ext cx="73152" cy="22860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55" name="Shape 53"/>
          <p:cNvSpPr/>
          <p:nvPr/>
        </p:nvSpPr>
        <p:spPr>
          <a:xfrm>
            <a:off x="4663440" y="1783080"/>
            <a:ext cx="22860" cy="73152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56" name="Shape 54"/>
          <p:cNvSpPr/>
          <p:nvPr/>
        </p:nvSpPr>
        <p:spPr>
          <a:xfrm>
            <a:off x="4773168" y="1892808"/>
            <a:ext cx="54864" cy="1060704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57" name="Shape 55"/>
          <p:cNvSpPr/>
          <p:nvPr/>
        </p:nvSpPr>
        <p:spPr>
          <a:xfrm>
            <a:off x="4937760" y="1947672"/>
            <a:ext cx="841248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3CA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19476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3CA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[DESIGN]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937760" y="2221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TEXT-TO-SPEECH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4937760" y="2633472"/>
            <a:ext cx="320040" cy="18288"/>
          </a:xfrm>
          <a:prstGeom prst="rect">
            <a:avLst/>
          </a:prstGeom>
          <a:solidFill>
            <a:srgbClr val="3CA0E0"/>
          </a:solidFill>
          <a:ln/>
        </p:spPr>
      </p:sp>
      <p:sp>
        <p:nvSpPr>
          <p:cNvPr id="61" name="Text 59"/>
          <p:cNvSpPr/>
          <p:nvPr/>
        </p:nvSpPr>
        <p:spPr>
          <a:xfrm>
            <a:off x="493776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 correct pronunciation through the glasses speaker.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11480" y="3264408"/>
            <a:ext cx="4069080" cy="128016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1480" y="3264408"/>
            <a:ext cx="73152" cy="22860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64" name="Shape 62"/>
          <p:cNvSpPr/>
          <p:nvPr/>
        </p:nvSpPr>
        <p:spPr>
          <a:xfrm>
            <a:off x="411480" y="3264408"/>
            <a:ext cx="22860" cy="73152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65" name="Shape 63"/>
          <p:cNvSpPr/>
          <p:nvPr/>
        </p:nvSpPr>
        <p:spPr>
          <a:xfrm>
            <a:off x="521208" y="3374136"/>
            <a:ext cx="54864" cy="1060704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66" name="Shape 64"/>
          <p:cNvSpPr/>
          <p:nvPr/>
        </p:nvSpPr>
        <p:spPr>
          <a:xfrm>
            <a:off x="685800" y="3429000"/>
            <a:ext cx="996696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B06BD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" y="3429000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06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[RESEARCH]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85800" y="3703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SPACED REPETITION QUIZ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685800" y="4114800"/>
            <a:ext cx="320040" cy="18288"/>
          </a:xfrm>
          <a:prstGeom prst="rect">
            <a:avLst/>
          </a:prstGeom>
          <a:solidFill>
            <a:srgbClr val="B06BD6"/>
          </a:solidFill>
          <a:ln/>
        </p:spPr>
      </p:sp>
      <p:sp>
        <p:nvSpPr>
          <p:cNvPr id="70" name="Text 68"/>
          <p:cNvSpPr/>
          <p:nvPr/>
        </p:nvSpPr>
        <p:spPr>
          <a:xfrm>
            <a:off x="685800" y="4178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phrases you've used — adapted to your progress.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663440" y="3264408"/>
            <a:ext cx="4069080" cy="1280160"/>
          </a:xfrm>
          <a:prstGeom prst="rect">
            <a:avLst/>
          </a:prstGeom>
          <a:solidFill>
            <a:srgbClr val="0B0F13"/>
          </a:solidFill>
          <a:ln w="9525">
            <a:solidFill>
              <a:srgbClr val="1F362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63440" y="3264408"/>
            <a:ext cx="73152" cy="22860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73" name="Shape 71"/>
          <p:cNvSpPr/>
          <p:nvPr/>
        </p:nvSpPr>
        <p:spPr>
          <a:xfrm>
            <a:off x="4663440" y="3264408"/>
            <a:ext cx="22860" cy="73152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74" name="Shape 72"/>
          <p:cNvSpPr/>
          <p:nvPr/>
        </p:nvSpPr>
        <p:spPr>
          <a:xfrm>
            <a:off x="4773168" y="3374136"/>
            <a:ext cx="54864" cy="1060704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75" name="Shape 73"/>
          <p:cNvSpPr/>
          <p:nvPr/>
        </p:nvSpPr>
        <p:spPr>
          <a:xfrm>
            <a:off x="4937760" y="3429000"/>
            <a:ext cx="841248" cy="219456"/>
          </a:xfrm>
          <a:prstGeom prst="rect">
            <a:avLst/>
          </a:prstGeom>
          <a:solidFill>
            <a:srgbClr val="0B0F13"/>
          </a:solidFill>
          <a:ln w="6350">
            <a:solidFill>
              <a:srgbClr val="00882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37760" y="34290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[QUEUED]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937760" y="3703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CULTURAL CONTEXT TIPS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4937760" y="4114800"/>
            <a:ext cx="320040" cy="1828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79" name="Text 77"/>
          <p:cNvSpPr/>
          <p:nvPr/>
        </p:nvSpPr>
        <p:spPr>
          <a:xfrm>
            <a:off x="4937760" y="4178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 when to bow, which hand to use, local customs.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65760" y="45262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QUEUE: 4 PENDING   //   NEXT SPRINT: Q3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79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759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0138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3518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6897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40277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63656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7036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10415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795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1750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0554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039341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3273136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506932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740727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3974523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208318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442114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675909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909705"/>
            <a:ext cx="9144000" cy="9144"/>
          </a:xfrm>
          <a:prstGeom prst="rect">
            <a:avLst/>
          </a:prstGeom>
          <a:solidFill>
            <a:srgbClr val="00FF41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292608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SECTION 08 / 08  //  CONNECTION.ESTABLISHED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18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LINGUA_FRANCA // v1.0.0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15400" y="114300"/>
            <a:ext cx="64008" cy="64008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B0F13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76495"/>
            <a:ext cx="91440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LINK ACTIVE    github.com/d3hospitality    RED_CAMBRIA @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64592" y="164592"/>
            <a:ext cx="201168" cy="22860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3" name="Shape 31"/>
          <p:cNvSpPr/>
          <p:nvPr/>
        </p:nvSpPr>
        <p:spPr>
          <a:xfrm>
            <a:off x="164592" y="164592"/>
            <a:ext cx="22860" cy="20116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4" name="Shape 32"/>
          <p:cNvSpPr/>
          <p:nvPr/>
        </p:nvSpPr>
        <p:spPr>
          <a:xfrm>
            <a:off x="8778240" y="164592"/>
            <a:ext cx="201168" cy="22860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5" name="Shape 33"/>
          <p:cNvSpPr/>
          <p:nvPr/>
        </p:nvSpPr>
        <p:spPr>
          <a:xfrm>
            <a:off x="8956548" y="164592"/>
            <a:ext cx="22860" cy="20116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6" name="Shape 34"/>
          <p:cNvSpPr/>
          <p:nvPr/>
        </p:nvSpPr>
        <p:spPr>
          <a:xfrm>
            <a:off x="164592" y="4956048"/>
            <a:ext cx="201168" cy="22860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7" name="Shape 35"/>
          <p:cNvSpPr/>
          <p:nvPr/>
        </p:nvSpPr>
        <p:spPr>
          <a:xfrm>
            <a:off x="164592" y="4777740"/>
            <a:ext cx="22860" cy="20116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8" name="Shape 36"/>
          <p:cNvSpPr/>
          <p:nvPr/>
        </p:nvSpPr>
        <p:spPr>
          <a:xfrm>
            <a:off x="8778240" y="4956048"/>
            <a:ext cx="201168" cy="22860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39" name="Shape 37"/>
          <p:cNvSpPr/>
          <p:nvPr/>
        </p:nvSpPr>
        <p:spPr>
          <a:xfrm>
            <a:off x="8956548" y="4777740"/>
            <a:ext cx="22860" cy="201168"/>
          </a:xfrm>
          <a:prstGeom prst="rect">
            <a:avLst/>
          </a:prstGeom>
          <a:solidFill>
            <a:srgbClr val="008824"/>
          </a:solidFill>
          <a:ln/>
        </p:spPr>
      </p:sp>
      <p:sp>
        <p:nvSpPr>
          <p:cNvPr id="40" name="Shape 38"/>
          <p:cNvSpPr/>
          <p:nvPr/>
        </p:nvSpPr>
        <p:spPr>
          <a:xfrm rot="2700000">
            <a:off x="4297680" y="1188720"/>
            <a:ext cx="548640" cy="548640"/>
          </a:xfrm>
          <a:prstGeom prst="rect">
            <a:avLst/>
          </a:prstGeom>
          <a:solidFill>
            <a:srgbClr val="05080A"/>
          </a:solidFill>
          <a:ln w="15875">
            <a:solidFill>
              <a:srgbClr val="00FF4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17136" y="1408176"/>
            <a:ext cx="109728" cy="109728"/>
          </a:xfrm>
          <a:prstGeom prst="ellipse">
            <a:avLst/>
          </a:prstGeom>
          <a:solidFill>
            <a:srgbClr val="00FF41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2057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CC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HANDSHAKE OK    //    CHANNEL ESTABLISHED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4320" y="25603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LANGUAGE,  DONE DIFFERENT.</a:t>
            </a:r>
            <a:endParaRPr lang="en-US" sz="4000" dirty="0"/>
          </a:p>
        </p:txBody>
      </p:sp>
      <p:sp>
        <p:nvSpPr>
          <p:cNvPr id="44" name="Text 42"/>
          <p:cNvSpPr/>
          <p:nvPr/>
        </p:nvSpPr>
        <p:spPr>
          <a:xfrm>
            <a:off x="274320" y="3429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0" kern="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SPEAK.   SEE.   CONNECT.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743200" y="3931920"/>
            <a:ext cx="3657600" cy="10973"/>
          </a:xfrm>
          <a:prstGeom prst="rect">
            <a:avLst/>
          </a:prstGeom>
          <a:solidFill>
            <a:srgbClr val="1F3625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0690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repo   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github.com/d3hospitality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427024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email  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admin@redcambria.com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" y="44714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88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node   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RED_CAMBRIA /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 Franca — soPHICON-styled</dc:title>
  <dc:subject>PptxGenJS Presentation</dc:subject>
  <dc:creator>Red Cambria</dc:creator>
  <cp:lastModifiedBy>Red Cambria</cp:lastModifiedBy>
  <cp:revision>1</cp:revision>
  <dcterms:created xsi:type="dcterms:W3CDTF">2026-04-19T00:50:02Z</dcterms:created>
  <dcterms:modified xsi:type="dcterms:W3CDTF">2026-04-19T00:50:02Z</dcterms:modified>
</cp:coreProperties>
</file>