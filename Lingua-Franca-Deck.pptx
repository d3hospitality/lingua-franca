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presentation.xml" ContentType="application/vnd.openxmlformats-officedocument.presentationml.presentation.main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_rels/notesSlide9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</a:t>
            </a:r>
            <a:r>
              <a:rPr b="0" lang="en-US" sz="2000" spc="-1" strike="noStrike">
                <a:latin typeface="Arial"/>
              </a:rPr>
              <a:t>to </a:t>
            </a:r>
            <a:r>
              <a:rPr b="0" lang="en-US" sz="2000" spc="-1" strike="noStrike">
                <a:latin typeface="Arial"/>
              </a:rPr>
              <a:t>edit </a:t>
            </a:r>
            <a:r>
              <a:rPr b="0" lang="en-US" sz="2000" spc="-1" strike="noStrike">
                <a:latin typeface="Arial"/>
              </a:rPr>
              <a:t>the </a:t>
            </a:r>
            <a:r>
              <a:rPr b="0" lang="en-US" sz="2000" spc="-1" strike="noStrike">
                <a:latin typeface="Arial"/>
              </a:rPr>
              <a:t>not</a:t>
            </a:r>
            <a:r>
              <a:rPr b="0" lang="en-US" sz="2000" spc="-1" strike="noStrike">
                <a:latin typeface="Arial"/>
              </a:rPr>
              <a:t>es </a:t>
            </a:r>
            <a:r>
              <a:rPr b="0" lang="en-US" sz="2000" spc="-1" strike="noStrike">
                <a:latin typeface="Arial"/>
              </a:rPr>
              <a:t>for</a:t>
            </a:r>
            <a:r>
              <a:rPr b="0" lang="en-US" sz="2000" spc="-1" strike="noStrike">
                <a:latin typeface="Arial"/>
              </a:rPr>
              <a:t>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CBAE6B07-F74F-4826-9810-5CB36C319670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1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DD47C9-EFBC-47A3-BBAE-254B444EF36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2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43C53B4-B18C-4596-8964-2CB65E1ADB3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2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6129FDE-D6F7-4FD7-907E-6AD804C1672A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2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ECC54D2-33A7-414D-A76F-6B17A190068A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2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014084D-0C54-4882-A67C-22006B5DD16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3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0EBA32C-59E4-41EC-B704-AF922FAC3A6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3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952594B-9B30-40E6-833B-9AE6FAC22B0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3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20D319D-D42E-447A-ABFE-64C8F39A0CE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4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755E3E7-FFBD-4D09-840B-92E392D2129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1"/>
          <p:cNvSpPr/>
          <p:nvPr/>
        </p:nvSpPr>
        <p:spPr>
          <a:xfrm>
            <a:off x="0" y="233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2"/>
          <p:cNvSpPr/>
          <p:nvPr/>
        </p:nvSpPr>
        <p:spPr>
          <a:xfrm>
            <a:off x="0" y="467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Shape 3"/>
          <p:cNvSpPr/>
          <p:nvPr/>
        </p:nvSpPr>
        <p:spPr>
          <a:xfrm>
            <a:off x="0" y="701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" name="Shape 4"/>
          <p:cNvSpPr/>
          <p:nvPr/>
        </p:nvSpPr>
        <p:spPr>
          <a:xfrm>
            <a:off x="0" y="935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Shape 5"/>
          <p:cNvSpPr/>
          <p:nvPr/>
        </p:nvSpPr>
        <p:spPr>
          <a:xfrm>
            <a:off x="0" y="1168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Shape 6"/>
          <p:cNvSpPr/>
          <p:nvPr/>
        </p:nvSpPr>
        <p:spPr>
          <a:xfrm>
            <a:off x="0" y="1402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Shape 7"/>
          <p:cNvSpPr/>
          <p:nvPr/>
        </p:nvSpPr>
        <p:spPr>
          <a:xfrm>
            <a:off x="0" y="16365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" name="Shape 8"/>
          <p:cNvSpPr/>
          <p:nvPr/>
        </p:nvSpPr>
        <p:spPr>
          <a:xfrm>
            <a:off x="0" y="1870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" name="Shape 9"/>
          <p:cNvSpPr/>
          <p:nvPr/>
        </p:nvSpPr>
        <p:spPr>
          <a:xfrm>
            <a:off x="0" y="2104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Shape 10"/>
          <p:cNvSpPr/>
          <p:nvPr/>
        </p:nvSpPr>
        <p:spPr>
          <a:xfrm>
            <a:off x="0" y="2337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" name="Shape 11"/>
          <p:cNvSpPr/>
          <p:nvPr/>
        </p:nvSpPr>
        <p:spPr>
          <a:xfrm>
            <a:off x="0" y="2571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Shape 12"/>
          <p:cNvSpPr/>
          <p:nvPr/>
        </p:nvSpPr>
        <p:spPr>
          <a:xfrm>
            <a:off x="0" y="2805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" name="Shape 13"/>
          <p:cNvSpPr/>
          <p:nvPr/>
        </p:nvSpPr>
        <p:spPr>
          <a:xfrm>
            <a:off x="0" y="3039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Shape 14"/>
          <p:cNvSpPr/>
          <p:nvPr/>
        </p:nvSpPr>
        <p:spPr>
          <a:xfrm>
            <a:off x="0" y="32731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Shape 15"/>
          <p:cNvSpPr/>
          <p:nvPr/>
        </p:nvSpPr>
        <p:spPr>
          <a:xfrm>
            <a:off x="0" y="3506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Shape 16"/>
          <p:cNvSpPr/>
          <p:nvPr/>
        </p:nvSpPr>
        <p:spPr>
          <a:xfrm>
            <a:off x="0" y="3740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Shape 17"/>
          <p:cNvSpPr/>
          <p:nvPr/>
        </p:nvSpPr>
        <p:spPr>
          <a:xfrm>
            <a:off x="0" y="3974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Shape 18"/>
          <p:cNvSpPr/>
          <p:nvPr/>
        </p:nvSpPr>
        <p:spPr>
          <a:xfrm>
            <a:off x="0" y="4208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3" name="Shape 19"/>
          <p:cNvSpPr/>
          <p:nvPr/>
        </p:nvSpPr>
        <p:spPr>
          <a:xfrm>
            <a:off x="0" y="4442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Shape 20"/>
          <p:cNvSpPr/>
          <p:nvPr/>
        </p:nvSpPr>
        <p:spPr>
          <a:xfrm>
            <a:off x="0" y="4676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Shape 21"/>
          <p:cNvSpPr/>
          <p:nvPr/>
        </p:nvSpPr>
        <p:spPr>
          <a:xfrm>
            <a:off x="0" y="49096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" name="Shape 22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Shape 23"/>
          <p:cNvSpPr/>
          <p:nvPr/>
        </p:nvSpPr>
        <p:spPr>
          <a:xfrm>
            <a:off x="0" y="29268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Text 24"/>
          <p:cNvSpPr/>
          <p:nvPr/>
        </p:nvSpPr>
        <p:spPr>
          <a:xfrm>
            <a:off x="20124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▸ </a:t>
            </a: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BOOT.LOG  //  SYSTEM INITIALIZING...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9" name="Text 25"/>
          <p:cNvSpPr/>
          <p:nvPr/>
        </p:nvSpPr>
        <p:spPr>
          <a:xfrm>
            <a:off x="347472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199" strike="noStrike">
                <a:solidFill>
                  <a:srgbClr val="7a7a7a"/>
                </a:solidFill>
                <a:latin typeface="Consolas"/>
                <a:ea typeface="Consolas"/>
              </a:rPr>
              <a:t>LINGUA_FRANCA // v1.0.0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0" name="Shape 26"/>
          <p:cNvSpPr/>
          <p:nvPr/>
        </p:nvSpPr>
        <p:spPr>
          <a:xfrm>
            <a:off x="8915400" y="114480"/>
            <a:ext cx="6372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" name="Shape 27"/>
          <p:cNvSpPr/>
          <p:nvPr/>
        </p:nvSpPr>
        <p:spPr>
          <a:xfrm>
            <a:off x="0" y="4887360"/>
            <a:ext cx="9143640" cy="25560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latin typeface="Arial"/>
              </a:rPr>
              <a:t>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2" name="Shape 28"/>
          <p:cNvSpPr/>
          <p:nvPr/>
        </p:nvSpPr>
        <p:spPr>
          <a:xfrm>
            <a:off x="0" y="487656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" name="Text 29"/>
          <p:cNvSpPr/>
          <p:nvPr/>
        </p:nvSpPr>
        <p:spPr>
          <a:xfrm>
            <a:off x="274320" y="4887360"/>
            <a:ext cx="8595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299" strike="noStrike">
                <a:solidFill>
                  <a:srgbClr val="008824"/>
                </a:solidFill>
                <a:latin typeface="Consolas"/>
                <a:ea typeface="Consolas"/>
              </a:rPr>
              <a:t>◉ </a:t>
            </a:r>
            <a:r>
              <a:rPr b="1" lang="en-US" sz="800" spc="299" strike="noStrike">
                <a:solidFill>
                  <a:srgbClr val="008824"/>
                </a:solidFill>
                <a:latin typeface="Consolas"/>
                <a:ea typeface="Consolas"/>
              </a:rPr>
              <a:t>UPLINK STABLE    NODE: LINGUA_FRANCA    CTX: ER_G2    RED_CAMBRIA @ 2026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74" name="Shape 30"/>
          <p:cNvSpPr/>
          <p:nvPr/>
        </p:nvSpPr>
        <p:spPr>
          <a:xfrm>
            <a:off x="164520" y="164520"/>
            <a:ext cx="200880" cy="226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Shape 31"/>
          <p:cNvSpPr/>
          <p:nvPr/>
        </p:nvSpPr>
        <p:spPr>
          <a:xfrm>
            <a:off x="164520" y="164520"/>
            <a:ext cx="22680" cy="2008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Shape 32"/>
          <p:cNvSpPr/>
          <p:nvPr/>
        </p:nvSpPr>
        <p:spPr>
          <a:xfrm>
            <a:off x="8778240" y="164520"/>
            <a:ext cx="200880" cy="226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Shape 33"/>
          <p:cNvSpPr/>
          <p:nvPr/>
        </p:nvSpPr>
        <p:spPr>
          <a:xfrm>
            <a:off x="8956440" y="164520"/>
            <a:ext cx="22680" cy="2008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8" name="Shape 34"/>
          <p:cNvSpPr/>
          <p:nvPr/>
        </p:nvSpPr>
        <p:spPr>
          <a:xfrm>
            <a:off x="164520" y="4956120"/>
            <a:ext cx="200880" cy="226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9" name="Shape 35"/>
          <p:cNvSpPr/>
          <p:nvPr/>
        </p:nvSpPr>
        <p:spPr>
          <a:xfrm>
            <a:off x="164520" y="4777920"/>
            <a:ext cx="22680" cy="2008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Shape 36"/>
          <p:cNvSpPr/>
          <p:nvPr/>
        </p:nvSpPr>
        <p:spPr>
          <a:xfrm>
            <a:off x="8778240" y="4956120"/>
            <a:ext cx="200880" cy="226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1" name="Shape 37"/>
          <p:cNvSpPr/>
          <p:nvPr/>
        </p:nvSpPr>
        <p:spPr>
          <a:xfrm>
            <a:off x="8956440" y="4777920"/>
            <a:ext cx="22680" cy="2008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Shape 39"/>
          <p:cNvSpPr/>
          <p:nvPr/>
        </p:nvSpPr>
        <p:spPr>
          <a:xfrm>
            <a:off x="4507920" y="1856160"/>
            <a:ext cx="127800" cy="127800"/>
          </a:xfrm>
          <a:prstGeom prst="ellipse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" name="Text 40"/>
          <p:cNvSpPr/>
          <p:nvPr/>
        </p:nvSpPr>
        <p:spPr>
          <a:xfrm>
            <a:off x="3657600" y="233172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599" strike="noStrike">
                <a:solidFill>
                  <a:srgbClr val="008824"/>
                </a:solidFill>
                <a:latin typeface="Consolas"/>
                <a:ea typeface="Consolas"/>
              </a:rPr>
              <a:t>LF//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4" name="Text 41"/>
          <p:cNvSpPr/>
          <p:nvPr/>
        </p:nvSpPr>
        <p:spPr>
          <a:xfrm>
            <a:off x="274320" y="2880360"/>
            <a:ext cx="8595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800" spc="999" strike="noStrike">
                <a:solidFill>
                  <a:srgbClr val="00ff41"/>
                </a:solidFill>
                <a:latin typeface="Consolas"/>
                <a:ea typeface="Consolas"/>
              </a:rPr>
              <a:t>LINGUA  FRANCA</a:t>
            </a:r>
            <a:endParaRPr b="0" lang="en-US" sz="4800" spc="-1" strike="noStrike">
              <a:latin typeface="Arial"/>
            </a:endParaRPr>
          </a:p>
        </p:txBody>
      </p:sp>
      <p:sp>
        <p:nvSpPr>
          <p:cNvPr id="85" name="Text 42"/>
          <p:cNvSpPr/>
          <p:nvPr/>
        </p:nvSpPr>
        <p:spPr>
          <a:xfrm>
            <a:off x="274320" y="3611880"/>
            <a:ext cx="8595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497" strike="noStrike">
                <a:solidFill>
                  <a:srgbClr val="00cc33"/>
                </a:solidFill>
                <a:latin typeface="Consolas"/>
                <a:ea typeface="Consolas"/>
              </a:rPr>
              <a:t>&gt; REAL-WORLD FLUENCY, ONE SCENE AT A TIME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6" name="Text 43"/>
          <p:cNvSpPr/>
          <p:nvPr/>
        </p:nvSpPr>
        <p:spPr>
          <a:xfrm>
            <a:off x="274320" y="3931920"/>
            <a:ext cx="8595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398" strike="noStrike">
                <a:solidFill>
                  <a:srgbClr val="7a7a7a"/>
                </a:solidFill>
                <a:latin typeface="Consolas"/>
                <a:ea typeface="Consolas"/>
              </a:rPr>
              <a:t>[ FOR EVEN REALITIES G2 SMART GLASSES ]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87" name="Shape 44"/>
          <p:cNvSpPr/>
          <p:nvPr/>
        </p:nvSpPr>
        <p:spPr>
          <a:xfrm>
            <a:off x="3200400" y="4316040"/>
            <a:ext cx="27428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Text 45"/>
          <p:cNvSpPr/>
          <p:nvPr/>
        </p:nvSpPr>
        <p:spPr>
          <a:xfrm>
            <a:off x="274320" y="4434840"/>
            <a:ext cx="8595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299" strike="noStrike">
                <a:solidFill>
                  <a:srgbClr val="4a4a4a"/>
                </a:solidFill>
                <a:latin typeface="Consolas"/>
                <a:ea typeface="Consolas"/>
              </a:rPr>
              <a:t>RED_CAMBRIA  ·  2026  ·  RESEARCH BUILD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641320" y="729720"/>
            <a:ext cx="3845880" cy="2882160"/>
          </a:xfrm>
          <a:prstGeom prst="rect">
            <a:avLst/>
          </a:prstGeom>
          <a:blipFill rotWithShape="0">
            <a:blip r:embed="rId1"/>
            <a:stretch/>
          </a:blip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pPr algn="ctr">
              <a:buNone/>
            </a:pPr>
            <a:r>
              <a:rPr b="0" lang="en-US" sz="1800" spc="-1" strike="noStrike">
                <a:latin typeface="Arial"/>
              </a:rPr>
              <a:t>v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hape 0"/>
          <p:cNvSpPr/>
          <p:nvPr/>
        </p:nvSpPr>
        <p:spPr>
          <a:xfrm>
            <a:off x="0" y="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Shape 1"/>
          <p:cNvSpPr/>
          <p:nvPr/>
        </p:nvSpPr>
        <p:spPr>
          <a:xfrm>
            <a:off x="0" y="233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Shape 2"/>
          <p:cNvSpPr/>
          <p:nvPr/>
        </p:nvSpPr>
        <p:spPr>
          <a:xfrm>
            <a:off x="0" y="467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Shape 3"/>
          <p:cNvSpPr/>
          <p:nvPr/>
        </p:nvSpPr>
        <p:spPr>
          <a:xfrm>
            <a:off x="0" y="701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4" name="Shape 4"/>
          <p:cNvSpPr/>
          <p:nvPr/>
        </p:nvSpPr>
        <p:spPr>
          <a:xfrm>
            <a:off x="0" y="935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Shape 5"/>
          <p:cNvSpPr/>
          <p:nvPr/>
        </p:nvSpPr>
        <p:spPr>
          <a:xfrm>
            <a:off x="0" y="1168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Shape 6"/>
          <p:cNvSpPr/>
          <p:nvPr/>
        </p:nvSpPr>
        <p:spPr>
          <a:xfrm>
            <a:off x="0" y="1402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Shape 7"/>
          <p:cNvSpPr/>
          <p:nvPr/>
        </p:nvSpPr>
        <p:spPr>
          <a:xfrm>
            <a:off x="0" y="16365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8" name="Shape 8"/>
          <p:cNvSpPr/>
          <p:nvPr/>
        </p:nvSpPr>
        <p:spPr>
          <a:xfrm>
            <a:off x="0" y="1870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Shape 9"/>
          <p:cNvSpPr/>
          <p:nvPr/>
        </p:nvSpPr>
        <p:spPr>
          <a:xfrm>
            <a:off x="0" y="2104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Shape 10"/>
          <p:cNvSpPr/>
          <p:nvPr/>
        </p:nvSpPr>
        <p:spPr>
          <a:xfrm>
            <a:off x="0" y="2337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Shape 11"/>
          <p:cNvSpPr/>
          <p:nvPr/>
        </p:nvSpPr>
        <p:spPr>
          <a:xfrm>
            <a:off x="0" y="2571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Shape 12"/>
          <p:cNvSpPr/>
          <p:nvPr/>
        </p:nvSpPr>
        <p:spPr>
          <a:xfrm>
            <a:off x="0" y="2805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Shape 13"/>
          <p:cNvSpPr/>
          <p:nvPr/>
        </p:nvSpPr>
        <p:spPr>
          <a:xfrm>
            <a:off x="0" y="3039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hape 14"/>
          <p:cNvSpPr/>
          <p:nvPr/>
        </p:nvSpPr>
        <p:spPr>
          <a:xfrm>
            <a:off x="0" y="32731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Shape 15"/>
          <p:cNvSpPr/>
          <p:nvPr/>
        </p:nvSpPr>
        <p:spPr>
          <a:xfrm>
            <a:off x="0" y="3506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Shape 16"/>
          <p:cNvSpPr/>
          <p:nvPr/>
        </p:nvSpPr>
        <p:spPr>
          <a:xfrm>
            <a:off x="0" y="3740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hape 17"/>
          <p:cNvSpPr/>
          <p:nvPr/>
        </p:nvSpPr>
        <p:spPr>
          <a:xfrm>
            <a:off x="0" y="3974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Shape 18"/>
          <p:cNvSpPr/>
          <p:nvPr/>
        </p:nvSpPr>
        <p:spPr>
          <a:xfrm>
            <a:off x="0" y="4208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Shape 19"/>
          <p:cNvSpPr/>
          <p:nvPr/>
        </p:nvSpPr>
        <p:spPr>
          <a:xfrm>
            <a:off x="0" y="4442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0" name="Shape 20"/>
          <p:cNvSpPr/>
          <p:nvPr/>
        </p:nvSpPr>
        <p:spPr>
          <a:xfrm>
            <a:off x="0" y="4676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1" name="Shape 21"/>
          <p:cNvSpPr/>
          <p:nvPr/>
        </p:nvSpPr>
        <p:spPr>
          <a:xfrm>
            <a:off x="0" y="49096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Shape 22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Shape 23"/>
          <p:cNvSpPr/>
          <p:nvPr/>
        </p:nvSpPr>
        <p:spPr>
          <a:xfrm>
            <a:off x="0" y="29268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Text 24"/>
          <p:cNvSpPr/>
          <p:nvPr/>
        </p:nvSpPr>
        <p:spPr>
          <a:xfrm>
            <a:off x="20124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▸ </a:t>
            </a: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SECTION 01 / 08  //  PROBLEM.DETECT()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5" name="Text 25"/>
          <p:cNvSpPr/>
          <p:nvPr/>
        </p:nvSpPr>
        <p:spPr>
          <a:xfrm>
            <a:off x="347472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199" strike="noStrike">
                <a:solidFill>
                  <a:srgbClr val="7a7a7a"/>
                </a:solidFill>
                <a:latin typeface="Consolas"/>
                <a:ea typeface="Consolas"/>
              </a:rPr>
              <a:t>LINGUA_FRANCA // v1.0.0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6" name="Shape 26"/>
          <p:cNvSpPr/>
          <p:nvPr/>
        </p:nvSpPr>
        <p:spPr>
          <a:xfrm>
            <a:off x="8915400" y="114480"/>
            <a:ext cx="6372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Shape 27"/>
          <p:cNvSpPr/>
          <p:nvPr/>
        </p:nvSpPr>
        <p:spPr>
          <a:xfrm>
            <a:off x="0" y="4887360"/>
            <a:ext cx="9143640" cy="25560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8" name="Shape 28"/>
          <p:cNvSpPr/>
          <p:nvPr/>
        </p:nvSpPr>
        <p:spPr>
          <a:xfrm>
            <a:off x="0" y="487656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Text 29"/>
          <p:cNvSpPr/>
          <p:nvPr/>
        </p:nvSpPr>
        <p:spPr>
          <a:xfrm>
            <a:off x="274320" y="4887360"/>
            <a:ext cx="8595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299" strike="noStrike">
                <a:solidFill>
                  <a:srgbClr val="008824"/>
                </a:solidFill>
                <a:latin typeface="Consolas"/>
                <a:ea typeface="Consolas"/>
              </a:rPr>
              <a:t>STATUS: READY   ●   UPLINK STABLE   ●   RED_CAMBRIA @ 2026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20" name="Shape 30"/>
          <p:cNvSpPr/>
          <p:nvPr/>
        </p:nvSpPr>
        <p:spPr>
          <a:xfrm>
            <a:off x="164520" y="1645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Shape 31"/>
          <p:cNvSpPr/>
          <p:nvPr/>
        </p:nvSpPr>
        <p:spPr>
          <a:xfrm>
            <a:off x="164520" y="1645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Shape 32"/>
          <p:cNvSpPr/>
          <p:nvPr/>
        </p:nvSpPr>
        <p:spPr>
          <a:xfrm>
            <a:off x="8778240" y="1645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Shape 33"/>
          <p:cNvSpPr/>
          <p:nvPr/>
        </p:nvSpPr>
        <p:spPr>
          <a:xfrm>
            <a:off x="8956440" y="1645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Shape 34"/>
          <p:cNvSpPr/>
          <p:nvPr/>
        </p:nvSpPr>
        <p:spPr>
          <a:xfrm>
            <a:off x="164520" y="49561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Shape 35"/>
          <p:cNvSpPr/>
          <p:nvPr/>
        </p:nvSpPr>
        <p:spPr>
          <a:xfrm>
            <a:off x="164520" y="47779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Shape 36"/>
          <p:cNvSpPr/>
          <p:nvPr/>
        </p:nvSpPr>
        <p:spPr>
          <a:xfrm>
            <a:off x="8778240" y="49561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Shape 37"/>
          <p:cNvSpPr/>
          <p:nvPr/>
        </p:nvSpPr>
        <p:spPr>
          <a:xfrm>
            <a:off x="8956440" y="47779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Text 38"/>
          <p:cNvSpPr/>
          <p:nvPr/>
        </p:nvSpPr>
        <p:spPr>
          <a:xfrm>
            <a:off x="365760" y="5029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398" strike="noStrike">
                <a:solidFill>
                  <a:srgbClr val="00ff41"/>
                </a:solidFill>
                <a:latin typeface="Consolas"/>
                <a:ea typeface="Consolas"/>
              </a:rPr>
              <a:t>&gt; PROBLEM.DETECT()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29" name="Text 39"/>
          <p:cNvSpPr/>
          <p:nvPr/>
        </p:nvSpPr>
        <p:spPr>
          <a:xfrm>
            <a:off x="365760" y="75888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599" strike="noStrike">
                <a:solidFill>
                  <a:srgbClr val="00cc33"/>
                </a:solidFill>
                <a:latin typeface="Consolas"/>
                <a:ea typeface="Consolas"/>
              </a:rPr>
              <a:t>THE PROBLEM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130" name="Shape 40"/>
          <p:cNvSpPr/>
          <p:nvPr/>
        </p:nvSpPr>
        <p:spPr>
          <a:xfrm>
            <a:off x="365760" y="1417320"/>
            <a:ext cx="548280" cy="22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1" name="Shape 41"/>
          <p:cNvSpPr/>
          <p:nvPr/>
        </p:nvSpPr>
        <p:spPr>
          <a:xfrm>
            <a:off x="960120" y="1417320"/>
            <a:ext cx="7772040" cy="2268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42"/>
          <p:cNvSpPr/>
          <p:nvPr/>
        </p:nvSpPr>
        <p:spPr>
          <a:xfrm>
            <a:off x="365760" y="160020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c8c8c8"/>
                </a:solidFill>
                <a:latin typeface="Consolas"/>
                <a:ea typeface="Consolas"/>
              </a:rPr>
              <a:t>Language-learning apps teach vocabulary in a vacuum. When you're abroad — at a restaurant, meeting someone, asking directions — you freeze.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3" name="Shape 43"/>
          <p:cNvSpPr/>
          <p:nvPr/>
        </p:nvSpPr>
        <p:spPr>
          <a:xfrm>
            <a:off x="438840" y="2331720"/>
            <a:ext cx="2669760" cy="233136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44"/>
          <p:cNvSpPr/>
          <p:nvPr/>
        </p:nvSpPr>
        <p:spPr>
          <a:xfrm>
            <a:off x="438840" y="2331720"/>
            <a:ext cx="72720" cy="22680"/>
          </a:xfrm>
          <a:prstGeom prst="rect">
            <a:avLst/>
          </a:prstGeom>
          <a:solidFill>
            <a:srgbClr val="ff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Shape 45"/>
          <p:cNvSpPr/>
          <p:nvPr/>
        </p:nvSpPr>
        <p:spPr>
          <a:xfrm>
            <a:off x="438840" y="2331720"/>
            <a:ext cx="22680" cy="72720"/>
          </a:xfrm>
          <a:prstGeom prst="rect">
            <a:avLst/>
          </a:prstGeom>
          <a:solidFill>
            <a:srgbClr val="ff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Shape 46"/>
          <p:cNvSpPr/>
          <p:nvPr/>
        </p:nvSpPr>
        <p:spPr>
          <a:xfrm>
            <a:off x="621720" y="2514600"/>
            <a:ext cx="84096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ff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Text 47"/>
          <p:cNvSpPr/>
          <p:nvPr/>
        </p:nvSpPr>
        <p:spPr>
          <a:xfrm>
            <a:off x="621720" y="2514600"/>
            <a:ext cx="840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ff3333"/>
                </a:solidFill>
                <a:latin typeface="Consolas"/>
                <a:ea typeface="Consolas"/>
              </a:rPr>
              <a:t>[ERR_01]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38" name="Text 48"/>
          <p:cNvSpPr/>
          <p:nvPr/>
        </p:nvSpPr>
        <p:spPr>
          <a:xfrm>
            <a:off x="621720" y="28346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rgbClr val="ff3333"/>
                </a:solidFill>
                <a:latin typeface="Consolas"/>
                <a:ea typeface="Consolas"/>
              </a:rPr>
              <a:t>▲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139" name="Text 49"/>
          <p:cNvSpPr/>
          <p:nvPr/>
        </p:nvSpPr>
        <p:spPr>
          <a:xfrm>
            <a:off x="621720" y="3383280"/>
            <a:ext cx="2304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398" strike="noStrike">
                <a:solidFill>
                  <a:srgbClr val="00ff41"/>
                </a:solidFill>
                <a:latin typeface="Consolas"/>
                <a:ea typeface="Consolas"/>
              </a:rPr>
              <a:t>CONTEXT GAP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0" name="Shape 50"/>
          <p:cNvSpPr/>
          <p:nvPr/>
        </p:nvSpPr>
        <p:spPr>
          <a:xfrm>
            <a:off x="621720" y="3749040"/>
            <a:ext cx="456840" cy="18000"/>
          </a:xfrm>
          <a:prstGeom prst="rect">
            <a:avLst/>
          </a:prstGeom>
          <a:solidFill>
            <a:srgbClr val="ff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Text 51"/>
          <p:cNvSpPr/>
          <p:nvPr/>
        </p:nvSpPr>
        <p:spPr>
          <a:xfrm>
            <a:off x="621720" y="3867840"/>
            <a:ext cx="2304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c8c8c8"/>
                </a:solidFill>
                <a:latin typeface="Consolas"/>
                <a:ea typeface="Consolas"/>
              </a:rPr>
              <a:t>Duolingo teaches "the cat is blue" — not how to order wine in Italian.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2" name="Shape 52"/>
          <p:cNvSpPr/>
          <p:nvPr/>
        </p:nvSpPr>
        <p:spPr>
          <a:xfrm>
            <a:off x="3237120" y="2331720"/>
            <a:ext cx="2669760" cy="233136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Shape 53"/>
          <p:cNvSpPr/>
          <p:nvPr/>
        </p:nvSpPr>
        <p:spPr>
          <a:xfrm>
            <a:off x="3237120" y="2331720"/>
            <a:ext cx="72720" cy="2268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4" name="Shape 54"/>
          <p:cNvSpPr/>
          <p:nvPr/>
        </p:nvSpPr>
        <p:spPr>
          <a:xfrm>
            <a:off x="3237120" y="2331720"/>
            <a:ext cx="22680" cy="7272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5" name="Shape 55"/>
          <p:cNvSpPr/>
          <p:nvPr/>
        </p:nvSpPr>
        <p:spPr>
          <a:xfrm>
            <a:off x="3420000" y="2514600"/>
            <a:ext cx="84096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ffb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6" name="Text 56"/>
          <p:cNvSpPr/>
          <p:nvPr/>
        </p:nvSpPr>
        <p:spPr>
          <a:xfrm>
            <a:off x="3420000" y="2514600"/>
            <a:ext cx="840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ffb000"/>
                </a:solidFill>
                <a:latin typeface="Consolas"/>
                <a:ea typeface="Consolas"/>
              </a:rPr>
              <a:t>[ERR_02]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47" name="Text 57"/>
          <p:cNvSpPr/>
          <p:nvPr/>
        </p:nvSpPr>
        <p:spPr>
          <a:xfrm>
            <a:off x="3420000" y="28346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rgbClr val="ffb000"/>
                </a:solidFill>
                <a:latin typeface="Consolas"/>
                <a:ea typeface="Consolas"/>
              </a:rPr>
              <a:t>◉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148" name="Text 58"/>
          <p:cNvSpPr/>
          <p:nvPr/>
        </p:nvSpPr>
        <p:spPr>
          <a:xfrm>
            <a:off x="3420000" y="3383280"/>
            <a:ext cx="2304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398" strike="noStrike">
                <a:solidFill>
                  <a:srgbClr val="00ff41"/>
                </a:solidFill>
                <a:latin typeface="Consolas"/>
                <a:ea typeface="Consolas"/>
              </a:rPr>
              <a:t>HANDS BUSY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9" name="Shape 59"/>
          <p:cNvSpPr/>
          <p:nvPr/>
        </p:nvSpPr>
        <p:spPr>
          <a:xfrm>
            <a:off x="3420000" y="3749040"/>
            <a:ext cx="456840" cy="1800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60"/>
          <p:cNvSpPr/>
          <p:nvPr/>
        </p:nvSpPr>
        <p:spPr>
          <a:xfrm>
            <a:off x="3420000" y="3867840"/>
            <a:ext cx="2304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c8c8c8"/>
                </a:solidFill>
                <a:latin typeface="Consolas"/>
                <a:ea typeface="Consolas"/>
              </a:rPr>
              <a:t>You can't stare at your phone mid-conversation without being rude.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1" name="Shape 61"/>
          <p:cNvSpPr/>
          <p:nvPr/>
        </p:nvSpPr>
        <p:spPr>
          <a:xfrm>
            <a:off x="6035040" y="2331720"/>
            <a:ext cx="2669760" cy="233136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Shape 62"/>
          <p:cNvSpPr/>
          <p:nvPr/>
        </p:nvSpPr>
        <p:spPr>
          <a:xfrm>
            <a:off x="6035040" y="2331720"/>
            <a:ext cx="72720" cy="2268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Shape 63"/>
          <p:cNvSpPr/>
          <p:nvPr/>
        </p:nvSpPr>
        <p:spPr>
          <a:xfrm>
            <a:off x="6035040" y="2331720"/>
            <a:ext cx="22680" cy="7272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4" name="Shape 64"/>
          <p:cNvSpPr/>
          <p:nvPr/>
        </p:nvSpPr>
        <p:spPr>
          <a:xfrm>
            <a:off x="6217920" y="2514600"/>
            <a:ext cx="84096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b06bd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Text 65"/>
          <p:cNvSpPr/>
          <p:nvPr/>
        </p:nvSpPr>
        <p:spPr>
          <a:xfrm>
            <a:off x="6217920" y="2514600"/>
            <a:ext cx="840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b06bd6"/>
                </a:solidFill>
                <a:latin typeface="Consolas"/>
                <a:ea typeface="Consolas"/>
              </a:rPr>
              <a:t>[ERR_03]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56" name="Text 66"/>
          <p:cNvSpPr/>
          <p:nvPr/>
        </p:nvSpPr>
        <p:spPr>
          <a:xfrm>
            <a:off x="6217920" y="28346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>
                <a:solidFill>
                  <a:srgbClr val="b06bd6"/>
                </a:solidFill>
                <a:latin typeface="Consolas"/>
                <a:ea typeface="Consolas"/>
              </a:rPr>
              <a:t>⟁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157" name="Text 67"/>
          <p:cNvSpPr/>
          <p:nvPr/>
        </p:nvSpPr>
        <p:spPr>
          <a:xfrm>
            <a:off x="6217920" y="3383280"/>
            <a:ext cx="2304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398" strike="noStrike">
                <a:solidFill>
                  <a:srgbClr val="00ff41"/>
                </a:solidFill>
                <a:latin typeface="Consolas"/>
                <a:ea typeface="Consolas"/>
              </a:rPr>
              <a:t>LATENCY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8" name="Shape 68"/>
          <p:cNvSpPr/>
          <p:nvPr/>
        </p:nvSpPr>
        <p:spPr>
          <a:xfrm>
            <a:off x="6217920" y="3749040"/>
            <a:ext cx="456840" cy="1800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69"/>
          <p:cNvSpPr/>
          <p:nvPr/>
        </p:nvSpPr>
        <p:spPr>
          <a:xfrm>
            <a:off x="6217920" y="3867840"/>
            <a:ext cx="2304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c8c8c8"/>
                </a:solidFill>
                <a:latin typeface="Consolas"/>
                <a:ea typeface="Consolas"/>
              </a:rPr>
              <a:t>Real dialogue doesn't pause while you look up a word.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hape 0"/>
          <p:cNvSpPr/>
          <p:nvPr/>
        </p:nvSpPr>
        <p:spPr>
          <a:xfrm>
            <a:off x="0" y="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1" name="Shape 1"/>
          <p:cNvSpPr/>
          <p:nvPr/>
        </p:nvSpPr>
        <p:spPr>
          <a:xfrm>
            <a:off x="0" y="233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Shape 2"/>
          <p:cNvSpPr/>
          <p:nvPr/>
        </p:nvSpPr>
        <p:spPr>
          <a:xfrm>
            <a:off x="0" y="467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3" name="Shape 3"/>
          <p:cNvSpPr/>
          <p:nvPr/>
        </p:nvSpPr>
        <p:spPr>
          <a:xfrm>
            <a:off x="0" y="701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Shape 4"/>
          <p:cNvSpPr/>
          <p:nvPr/>
        </p:nvSpPr>
        <p:spPr>
          <a:xfrm>
            <a:off x="0" y="935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Shape 5"/>
          <p:cNvSpPr/>
          <p:nvPr/>
        </p:nvSpPr>
        <p:spPr>
          <a:xfrm>
            <a:off x="0" y="1168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6" name="Shape 6"/>
          <p:cNvSpPr/>
          <p:nvPr/>
        </p:nvSpPr>
        <p:spPr>
          <a:xfrm>
            <a:off x="0" y="1402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Shape 7"/>
          <p:cNvSpPr/>
          <p:nvPr/>
        </p:nvSpPr>
        <p:spPr>
          <a:xfrm>
            <a:off x="0" y="16365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Shape 8"/>
          <p:cNvSpPr/>
          <p:nvPr/>
        </p:nvSpPr>
        <p:spPr>
          <a:xfrm>
            <a:off x="0" y="1870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9" name="Shape 9"/>
          <p:cNvSpPr/>
          <p:nvPr/>
        </p:nvSpPr>
        <p:spPr>
          <a:xfrm>
            <a:off x="0" y="2104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Shape 10"/>
          <p:cNvSpPr/>
          <p:nvPr/>
        </p:nvSpPr>
        <p:spPr>
          <a:xfrm>
            <a:off x="0" y="2337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Shape 11"/>
          <p:cNvSpPr/>
          <p:nvPr/>
        </p:nvSpPr>
        <p:spPr>
          <a:xfrm>
            <a:off x="0" y="2571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2" name="Shape 12"/>
          <p:cNvSpPr/>
          <p:nvPr/>
        </p:nvSpPr>
        <p:spPr>
          <a:xfrm>
            <a:off x="0" y="2805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Shape 13"/>
          <p:cNvSpPr/>
          <p:nvPr/>
        </p:nvSpPr>
        <p:spPr>
          <a:xfrm>
            <a:off x="0" y="3039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Shape 14"/>
          <p:cNvSpPr/>
          <p:nvPr/>
        </p:nvSpPr>
        <p:spPr>
          <a:xfrm>
            <a:off x="0" y="32731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Shape 15"/>
          <p:cNvSpPr/>
          <p:nvPr/>
        </p:nvSpPr>
        <p:spPr>
          <a:xfrm>
            <a:off x="0" y="3506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Shape 16"/>
          <p:cNvSpPr/>
          <p:nvPr/>
        </p:nvSpPr>
        <p:spPr>
          <a:xfrm>
            <a:off x="0" y="3740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Shape 17"/>
          <p:cNvSpPr/>
          <p:nvPr/>
        </p:nvSpPr>
        <p:spPr>
          <a:xfrm>
            <a:off x="0" y="3974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Shape 18"/>
          <p:cNvSpPr/>
          <p:nvPr/>
        </p:nvSpPr>
        <p:spPr>
          <a:xfrm>
            <a:off x="0" y="4208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Shape 19"/>
          <p:cNvSpPr/>
          <p:nvPr/>
        </p:nvSpPr>
        <p:spPr>
          <a:xfrm>
            <a:off x="0" y="4442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Shape 20"/>
          <p:cNvSpPr/>
          <p:nvPr/>
        </p:nvSpPr>
        <p:spPr>
          <a:xfrm>
            <a:off x="0" y="4676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1" name="Shape 21"/>
          <p:cNvSpPr/>
          <p:nvPr/>
        </p:nvSpPr>
        <p:spPr>
          <a:xfrm>
            <a:off x="0" y="49096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Shape 22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Shape 23"/>
          <p:cNvSpPr/>
          <p:nvPr/>
        </p:nvSpPr>
        <p:spPr>
          <a:xfrm>
            <a:off x="0" y="29268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Text 24"/>
          <p:cNvSpPr/>
          <p:nvPr/>
        </p:nvSpPr>
        <p:spPr>
          <a:xfrm>
            <a:off x="20124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▸ </a:t>
            </a: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SECTION 02 / 08  //  SOLUTION.INIT()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85" name="Text 25"/>
          <p:cNvSpPr/>
          <p:nvPr/>
        </p:nvSpPr>
        <p:spPr>
          <a:xfrm>
            <a:off x="347472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199" strike="noStrike">
                <a:solidFill>
                  <a:srgbClr val="7a7a7a"/>
                </a:solidFill>
                <a:latin typeface="Consolas"/>
                <a:ea typeface="Consolas"/>
              </a:rPr>
              <a:t>LINGUA_FRANCA // v1.0.0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86" name="Shape 26"/>
          <p:cNvSpPr/>
          <p:nvPr/>
        </p:nvSpPr>
        <p:spPr>
          <a:xfrm>
            <a:off x="8915400" y="114480"/>
            <a:ext cx="6372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Shape 27"/>
          <p:cNvSpPr/>
          <p:nvPr/>
        </p:nvSpPr>
        <p:spPr>
          <a:xfrm>
            <a:off x="0" y="4887360"/>
            <a:ext cx="9143640" cy="25560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Shape 28"/>
          <p:cNvSpPr/>
          <p:nvPr/>
        </p:nvSpPr>
        <p:spPr>
          <a:xfrm>
            <a:off x="0" y="487656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29"/>
          <p:cNvSpPr/>
          <p:nvPr/>
        </p:nvSpPr>
        <p:spPr>
          <a:xfrm>
            <a:off x="274320" y="4887360"/>
            <a:ext cx="8595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299" strike="noStrike">
                <a:solidFill>
                  <a:srgbClr val="008824"/>
                </a:solidFill>
                <a:latin typeface="Consolas"/>
                <a:ea typeface="Consolas"/>
              </a:rPr>
              <a:t>STATUS: READY   ●   UPLINK STABLE   ●   RED_CAMBRIA @ 2026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90" name="Shape 30"/>
          <p:cNvSpPr/>
          <p:nvPr/>
        </p:nvSpPr>
        <p:spPr>
          <a:xfrm>
            <a:off x="164520" y="1645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Shape 31"/>
          <p:cNvSpPr/>
          <p:nvPr/>
        </p:nvSpPr>
        <p:spPr>
          <a:xfrm>
            <a:off x="164520" y="1645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Shape 32"/>
          <p:cNvSpPr/>
          <p:nvPr/>
        </p:nvSpPr>
        <p:spPr>
          <a:xfrm>
            <a:off x="8778240" y="1645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Shape 33"/>
          <p:cNvSpPr/>
          <p:nvPr/>
        </p:nvSpPr>
        <p:spPr>
          <a:xfrm>
            <a:off x="8956440" y="1645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4" name="Shape 34"/>
          <p:cNvSpPr/>
          <p:nvPr/>
        </p:nvSpPr>
        <p:spPr>
          <a:xfrm>
            <a:off x="164520" y="49561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Shape 35"/>
          <p:cNvSpPr/>
          <p:nvPr/>
        </p:nvSpPr>
        <p:spPr>
          <a:xfrm>
            <a:off x="164520" y="47779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Shape 36"/>
          <p:cNvSpPr/>
          <p:nvPr/>
        </p:nvSpPr>
        <p:spPr>
          <a:xfrm>
            <a:off x="8778240" y="49561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Shape 37"/>
          <p:cNvSpPr/>
          <p:nvPr/>
        </p:nvSpPr>
        <p:spPr>
          <a:xfrm>
            <a:off x="8956440" y="47779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8" name="Text 38"/>
          <p:cNvSpPr/>
          <p:nvPr/>
        </p:nvSpPr>
        <p:spPr>
          <a:xfrm>
            <a:off x="365760" y="5029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398" strike="noStrike">
                <a:solidFill>
                  <a:srgbClr val="00ff41"/>
                </a:solidFill>
                <a:latin typeface="Consolas"/>
                <a:ea typeface="Consolas"/>
              </a:rPr>
              <a:t>&gt; SOLUTION.INIT()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99" name="Text 39"/>
          <p:cNvSpPr/>
          <p:nvPr/>
        </p:nvSpPr>
        <p:spPr>
          <a:xfrm>
            <a:off x="365760" y="75888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599" strike="noStrike">
                <a:solidFill>
                  <a:srgbClr val="00cc33"/>
                </a:solidFill>
                <a:latin typeface="Consolas"/>
                <a:ea typeface="Consolas"/>
              </a:rPr>
              <a:t>THE SOLUTION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200" name="Shape 40"/>
          <p:cNvSpPr/>
          <p:nvPr/>
        </p:nvSpPr>
        <p:spPr>
          <a:xfrm>
            <a:off x="365760" y="1417320"/>
            <a:ext cx="548280" cy="22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1" name="Shape 41"/>
          <p:cNvSpPr/>
          <p:nvPr/>
        </p:nvSpPr>
        <p:spPr>
          <a:xfrm>
            <a:off x="960120" y="1417320"/>
            <a:ext cx="7772040" cy="2268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Text 42"/>
          <p:cNvSpPr/>
          <p:nvPr/>
        </p:nvSpPr>
        <p:spPr>
          <a:xfrm>
            <a:off x="365760" y="160020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c8c8c8"/>
                </a:solidFill>
                <a:latin typeface="Consolas"/>
                <a:ea typeface="Consolas"/>
              </a:rPr>
              <a:t>Real-time language coaching directly on smart glasses — phrases, translations, and phonetic guides appear in your field of view exactly when you need them.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03" name="Shape 43"/>
          <p:cNvSpPr/>
          <p:nvPr/>
        </p:nvSpPr>
        <p:spPr>
          <a:xfrm>
            <a:off x="347400" y="2331720"/>
            <a:ext cx="2029680" cy="214848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4" name="Shape 44"/>
          <p:cNvSpPr/>
          <p:nvPr/>
        </p:nvSpPr>
        <p:spPr>
          <a:xfrm>
            <a:off x="347400" y="2331720"/>
            <a:ext cx="72720" cy="22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Shape 45"/>
          <p:cNvSpPr/>
          <p:nvPr/>
        </p:nvSpPr>
        <p:spPr>
          <a:xfrm>
            <a:off x="347400" y="2331720"/>
            <a:ext cx="22680" cy="72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Shape 46"/>
          <p:cNvSpPr/>
          <p:nvPr/>
        </p:nvSpPr>
        <p:spPr>
          <a:xfrm>
            <a:off x="511920" y="2514600"/>
            <a:ext cx="115164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Text 47"/>
          <p:cNvSpPr/>
          <p:nvPr/>
        </p:nvSpPr>
        <p:spPr>
          <a:xfrm>
            <a:off x="511920" y="2514600"/>
            <a:ext cx="1151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00ff41"/>
                </a:solidFill>
                <a:latin typeface="Consolas"/>
                <a:ea typeface="Consolas"/>
              </a:rPr>
              <a:t>[HUD.RENDER]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08" name="Text 48"/>
          <p:cNvSpPr/>
          <p:nvPr/>
        </p:nvSpPr>
        <p:spPr>
          <a:xfrm>
            <a:off x="511920" y="2926080"/>
            <a:ext cx="170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299" strike="noStrike">
                <a:solidFill>
                  <a:srgbClr val="00ff41"/>
                </a:solidFill>
                <a:latin typeface="Consolas"/>
                <a:ea typeface="Consolas"/>
              </a:rPr>
              <a:t>HEADS-UP DISPLAY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09" name="Shape 49"/>
          <p:cNvSpPr/>
          <p:nvPr/>
        </p:nvSpPr>
        <p:spPr>
          <a:xfrm>
            <a:off x="511920" y="3538800"/>
            <a:ext cx="365400" cy="1800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Text 50"/>
          <p:cNvSpPr/>
          <p:nvPr/>
        </p:nvSpPr>
        <p:spPr>
          <a:xfrm>
            <a:off x="511920" y="3648600"/>
            <a:ext cx="1700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Phrases appear on 576×288 green micro-LED — no phone needed.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11" name="Shape 51"/>
          <p:cNvSpPr/>
          <p:nvPr/>
        </p:nvSpPr>
        <p:spPr>
          <a:xfrm>
            <a:off x="2487240" y="2331720"/>
            <a:ext cx="2029680" cy="214848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Shape 52"/>
          <p:cNvSpPr/>
          <p:nvPr/>
        </p:nvSpPr>
        <p:spPr>
          <a:xfrm>
            <a:off x="2487240" y="2331720"/>
            <a:ext cx="72720" cy="22680"/>
          </a:xfrm>
          <a:prstGeom prst="rect">
            <a:avLst/>
          </a:prstGeom>
          <a:solidFill>
            <a:srgbClr val="3ca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3" name="Shape 53"/>
          <p:cNvSpPr/>
          <p:nvPr/>
        </p:nvSpPr>
        <p:spPr>
          <a:xfrm>
            <a:off x="2487240" y="2331720"/>
            <a:ext cx="22680" cy="72720"/>
          </a:xfrm>
          <a:prstGeom prst="rect">
            <a:avLst/>
          </a:prstGeom>
          <a:solidFill>
            <a:srgbClr val="3ca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Shape 54"/>
          <p:cNvSpPr/>
          <p:nvPr/>
        </p:nvSpPr>
        <p:spPr>
          <a:xfrm>
            <a:off x="2651760" y="2514600"/>
            <a:ext cx="115164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3ca0e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5" name="Text 55"/>
          <p:cNvSpPr/>
          <p:nvPr/>
        </p:nvSpPr>
        <p:spPr>
          <a:xfrm>
            <a:off x="2651760" y="2514600"/>
            <a:ext cx="1151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3ca0e0"/>
                </a:solidFill>
                <a:latin typeface="Consolas"/>
                <a:ea typeface="Consolas"/>
              </a:rPr>
              <a:t>[STT.STREAM]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16" name="Text 56"/>
          <p:cNvSpPr/>
          <p:nvPr/>
        </p:nvSpPr>
        <p:spPr>
          <a:xfrm>
            <a:off x="2651760" y="2926080"/>
            <a:ext cx="170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299" strike="noStrike">
                <a:solidFill>
                  <a:srgbClr val="00ff41"/>
                </a:solidFill>
                <a:latin typeface="Consolas"/>
                <a:ea typeface="Consolas"/>
              </a:rPr>
              <a:t>LIVE SPEECH-TO-TEXT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17" name="Shape 57"/>
          <p:cNvSpPr/>
          <p:nvPr/>
        </p:nvSpPr>
        <p:spPr>
          <a:xfrm>
            <a:off x="2651760" y="3538800"/>
            <a:ext cx="365400" cy="18000"/>
          </a:xfrm>
          <a:prstGeom prst="rect">
            <a:avLst/>
          </a:prstGeom>
          <a:solidFill>
            <a:srgbClr val="3ca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8" name="Text 58"/>
          <p:cNvSpPr/>
          <p:nvPr/>
        </p:nvSpPr>
        <p:spPr>
          <a:xfrm>
            <a:off x="2651760" y="3648600"/>
            <a:ext cx="1700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Smallest.ai Pulse streams speech in real-time @ 64ms latency.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19" name="Shape 59"/>
          <p:cNvSpPr/>
          <p:nvPr/>
        </p:nvSpPr>
        <p:spPr>
          <a:xfrm>
            <a:off x="4626720" y="2331720"/>
            <a:ext cx="2029680" cy="214848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Shape 60"/>
          <p:cNvSpPr/>
          <p:nvPr/>
        </p:nvSpPr>
        <p:spPr>
          <a:xfrm>
            <a:off x="4626720" y="2331720"/>
            <a:ext cx="72720" cy="2268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1" name="Shape 61"/>
          <p:cNvSpPr/>
          <p:nvPr/>
        </p:nvSpPr>
        <p:spPr>
          <a:xfrm>
            <a:off x="4626720" y="2331720"/>
            <a:ext cx="22680" cy="7272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2" name="Shape 62"/>
          <p:cNvSpPr/>
          <p:nvPr/>
        </p:nvSpPr>
        <p:spPr>
          <a:xfrm>
            <a:off x="4791600" y="2514600"/>
            <a:ext cx="91872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b06bd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Text 63"/>
          <p:cNvSpPr/>
          <p:nvPr/>
        </p:nvSpPr>
        <p:spPr>
          <a:xfrm>
            <a:off x="4791600" y="2514600"/>
            <a:ext cx="9187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b06bd6"/>
                </a:solidFill>
                <a:latin typeface="Consolas"/>
                <a:ea typeface="Consolas"/>
              </a:rPr>
              <a:t>[LANG.21]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24" name="Text 64"/>
          <p:cNvSpPr/>
          <p:nvPr/>
        </p:nvSpPr>
        <p:spPr>
          <a:xfrm>
            <a:off x="4791600" y="2926080"/>
            <a:ext cx="170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299" strike="noStrike">
                <a:solidFill>
                  <a:srgbClr val="00ff41"/>
                </a:solidFill>
                <a:latin typeface="Consolas"/>
                <a:ea typeface="Consolas"/>
              </a:rPr>
              <a:t>21 LANGUAGES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25" name="Shape 65"/>
          <p:cNvSpPr/>
          <p:nvPr/>
        </p:nvSpPr>
        <p:spPr>
          <a:xfrm>
            <a:off x="4791600" y="3538800"/>
            <a:ext cx="365400" cy="1800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6" name="Text 66"/>
          <p:cNvSpPr/>
          <p:nvPr/>
        </p:nvSpPr>
        <p:spPr>
          <a:xfrm>
            <a:off x="4791600" y="3648600"/>
            <a:ext cx="1700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Japanese → Arabic, with romanization + phonetic guides.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27" name="Shape 67"/>
          <p:cNvSpPr/>
          <p:nvPr/>
        </p:nvSpPr>
        <p:spPr>
          <a:xfrm>
            <a:off x="6766560" y="2331720"/>
            <a:ext cx="2029680" cy="214848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8" name="Shape 68"/>
          <p:cNvSpPr/>
          <p:nvPr/>
        </p:nvSpPr>
        <p:spPr>
          <a:xfrm>
            <a:off x="6766560" y="2331720"/>
            <a:ext cx="72720" cy="22680"/>
          </a:xfrm>
          <a:prstGeom prst="rect">
            <a:avLst/>
          </a:prstGeom>
          <a:solidFill>
            <a:srgbClr val="ffd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9" name="Shape 69"/>
          <p:cNvSpPr/>
          <p:nvPr/>
        </p:nvSpPr>
        <p:spPr>
          <a:xfrm>
            <a:off x="6766560" y="2331720"/>
            <a:ext cx="22680" cy="72720"/>
          </a:xfrm>
          <a:prstGeom prst="rect">
            <a:avLst/>
          </a:prstGeom>
          <a:solidFill>
            <a:srgbClr val="ffd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0" name="Shape 70"/>
          <p:cNvSpPr/>
          <p:nvPr/>
        </p:nvSpPr>
        <p:spPr>
          <a:xfrm>
            <a:off x="6931080" y="2514600"/>
            <a:ext cx="130716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ffd7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Text 71"/>
          <p:cNvSpPr/>
          <p:nvPr/>
        </p:nvSpPr>
        <p:spPr>
          <a:xfrm>
            <a:off x="6931080" y="2514600"/>
            <a:ext cx="1307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ffd700"/>
                </a:solidFill>
                <a:latin typeface="Consolas"/>
                <a:ea typeface="Consolas"/>
              </a:rPr>
              <a:t>[TOUCH.TEMPLE]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32" name="Text 72"/>
          <p:cNvSpPr/>
          <p:nvPr/>
        </p:nvSpPr>
        <p:spPr>
          <a:xfrm>
            <a:off x="6931080" y="2926080"/>
            <a:ext cx="170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299" strike="noStrike">
                <a:solidFill>
                  <a:srgbClr val="00ff41"/>
                </a:solidFill>
                <a:latin typeface="Consolas"/>
                <a:ea typeface="Consolas"/>
              </a:rPr>
              <a:t>SCROLL &amp; TAP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33" name="Shape 73"/>
          <p:cNvSpPr/>
          <p:nvPr/>
        </p:nvSpPr>
        <p:spPr>
          <a:xfrm>
            <a:off x="6931080" y="3538800"/>
            <a:ext cx="365400" cy="18000"/>
          </a:xfrm>
          <a:prstGeom prst="rect">
            <a:avLst/>
          </a:prstGeom>
          <a:solidFill>
            <a:srgbClr val="ffd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4" name="Text 74"/>
          <p:cNvSpPr/>
          <p:nvPr/>
        </p:nvSpPr>
        <p:spPr>
          <a:xfrm>
            <a:off x="6931080" y="3648600"/>
            <a:ext cx="1700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Browse scenarios on the glasses temple — no phone touch needed.</a:t>
            </a: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Shape 0"/>
          <p:cNvSpPr/>
          <p:nvPr/>
        </p:nvSpPr>
        <p:spPr>
          <a:xfrm>
            <a:off x="0" y="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6" name="Shape 1"/>
          <p:cNvSpPr/>
          <p:nvPr/>
        </p:nvSpPr>
        <p:spPr>
          <a:xfrm>
            <a:off x="0" y="233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Shape 2"/>
          <p:cNvSpPr/>
          <p:nvPr/>
        </p:nvSpPr>
        <p:spPr>
          <a:xfrm>
            <a:off x="0" y="467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8" name="Shape 3"/>
          <p:cNvSpPr/>
          <p:nvPr/>
        </p:nvSpPr>
        <p:spPr>
          <a:xfrm>
            <a:off x="0" y="701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Shape 4"/>
          <p:cNvSpPr/>
          <p:nvPr/>
        </p:nvSpPr>
        <p:spPr>
          <a:xfrm>
            <a:off x="0" y="935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0" name="Shape 5"/>
          <p:cNvSpPr/>
          <p:nvPr/>
        </p:nvSpPr>
        <p:spPr>
          <a:xfrm>
            <a:off x="0" y="1168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1" name="Shape 6"/>
          <p:cNvSpPr/>
          <p:nvPr/>
        </p:nvSpPr>
        <p:spPr>
          <a:xfrm>
            <a:off x="0" y="1402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Shape 7"/>
          <p:cNvSpPr/>
          <p:nvPr/>
        </p:nvSpPr>
        <p:spPr>
          <a:xfrm>
            <a:off x="0" y="16365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3" name="Shape 8"/>
          <p:cNvSpPr/>
          <p:nvPr/>
        </p:nvSpPr>
        <p:spPr>
          <a:xfrm>
            <a:off x="0" y="1870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Shape 9"/>
          <p:cNvSpPr/>
          <p:nvPr/>
        </p:nvSpPr>
        <p:spPr>
          <a:xfrm>
            <a:off x="0" y="2104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5" name="Shape 10"/>
          <p:cNvSpPr/>
          <p:nvPr/>
        </p:nvSpPr>
        <p:spPr>
          <a:xfrm>
            <a:off x="0" y="2337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Shape 11"/>
          <p:cNvSpPr/>
          <p:nvPr/>
        </p:nvSpPr>
        <p:spPr>
          <a:xfrm>
            <a:off x="0" y="2571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Shape 12"/>
          <p:cNvSpPr/>
          <p:nvPr/>
        </p:nvSpPr>
        <p:spPr>
          <a:xfrm>
            <a:off x="0" y="2805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Shape 13"/>
          <p:cNvSpPr/>
          <p:nvPr/>
        </p:nvSpPr>
        <p:spPr>
          <a:xfrm>
            <a:off x="0" y="3039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9" name="Shape 14"/>
          <p:cNvSpPr/>
          <p:nvPr/>
        </p:nvSpPr>
        <p:spPr>
          <a:xfrm>
            <a:off x="0" y="32731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Shape 15"/>
          <p:cNvSpPr/>
          <p:nvPr/>
        </p:nvSpPr>
        <p:spPr>
          <a:xfrm>
            <a:off x="0" y="3506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Shape 16"/>
          <p:cNvSpPr/>
          <p:nvPr/>
        </p:nvSpPr>
        <p:spPr>
          <a:xfrm>
            <a:off x="0" y="3740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Shape 17"/>
          <p:cNvSpPr/>
          <p:nvPr/>
        </p:nvSpPr>
        <p:spPr>
          <a:xfrm>
            <a:off x="0" y="3974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3" name="Shape 18"/>
          <p:cNvSpPr/>
          <p:nvPr/>
        </p:nvSpPr>
        <p:spPr>
          <a:xfrm>
            <a:off x="0" y="4208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Shape 19"/>
          <p:cNvSpPr/>
          <p:nvPr/>
        </p:nvSpPr>
        <p:spPr>
          <a:xfrm>
            <a:off x="0" y="4442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5" name="Shape 20"/>
          <p:cNvSpPr/>
          <p:nvPr/>
        </p:nvSpPr>
        <p:spPr>
          <a:xfrm>
            <a:off x="0" y="4676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Shape 21"/>
          <p:cNvSpPr/>
          <p:nvPr/>
        </p:nvSpPr>
        <p:spPr>
          <a:xfrm>
            <a:off x="0" y="49096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7" name="Shape 22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8" name="Shape 23"/>
          <p:cNvSpPr/>
          <p:nvPr/>
        </p:nvSpPr>
        <p:spPr>
          <a:xfrm>
            <a:off x="0" y="29268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9" name="Text 24"/>
          <p:cNvSpPr/>
          <p:nvPr/>
        </p:nvSpPr>
        <p:spPr>
          <a:xfrm>
            <a:off x="20124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▸ </a:t>
            </a: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SECTION 03 / 08  //  PIPELINE.FLOW()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260" name="Text 25"/>
          <p:cNvSpPr/>
          <p:nvPr/>
        </p:nvSpPr>
        <p:spPr>
          <a:xfrm>
            <a:off x="347472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199" strike="noStrike">
                <a:solidFill>
                  <a:srgbClr val="7a7a7a"/>
                </a:solidFill>
                <a:latin typeface="Consolas"/>
                <a:ea typeface="Consolas"/>
              </a:rPr>
              <a:t>LINGUA_FRANCA // v1.0.0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261" name="Shape 26"/>
          <p:cNvSpPr/>
          <p:nvPr/>
        </p:nvSpPr>
        <p:spPr>
          <a:xfrm>
            <a:off x="8915400" y="114480"/>
            <a:ext cx="6372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2" name="Shape 27"/>
          <p:cNvSpPr/>
          <p:nvPr/>
        </p:nvSpPr>
        <p:spPr>
          <a:xfrm>
            <a:off x="0" y="4887360"/>
            <a:ext cx="9143640" cy="25560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Shape 28"/>
          <p:cNvSpPr/>
          <p:nvPr/>
        </p:nvSpPr>
        <p:spPr>
          <a:xfrm>
            <a:off x="0" y="487656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4" name="Text 29"/>
          <p:cNvSpPr/>
          <p:nvPr/>
        </p:nvSpPr>
        <p:spPr>
          <a:xfrm>
            <a:off x="274320" y="4887360"/>
            <a:ext cx="8595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299" strike="noStrike">
                <a:solidFill>
                  <a:srgbClr val="008824"/>
                </a:solidFill>
                <a:latin typeface="Consolas"/>
                <a:ea typeface="Consolas"/>
              </a:rPr>
              <a:t>STATUS: READY   ●   UPLINK STABLE   ●   RED_CAMBRIA @ 2026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65" name="Shape 30"/>
          <p:cNvSpPr/>
          <p:nvPr/>
        </p:nvSpPr>
        <p:spPr>
          <a:xfrm>
            <a:off x="164520" y="1645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6" name="Shape 31"/>
          <p:cNvSpPr/>
          <p:nvPr/>
        </p:nvSpPr>
        <p:spPr>
          <a:xfrm>
            <a:off x="164520" y="1645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Shape 32"/>
          <p:cNvSpPr/>
          <p:nvPr/>
        </p:nvSpPr>
        <p:spPr>
          <a:xfrm>
            <a:off x="8778240" y="1645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8" name="Shape 33"/>
          <p:cNvSpPr/>
          <p:nvPr/>
        </p:nvSpPr>
        <p:spPr>
          <a:xfrm>
            <a:off x="8956440" y="1645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Shape 34"/>
          <p:cNvSpPr/>
          <p:nvPr/>
        </p:nvSpPr>
        <p:spPr>
          <a:xfrm>
            <a:off x="164520" y="49561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Shape 35"/>
          <p:cNvSpPr/>
          <p:nvPr/>
        </p:nvSpPr>
        <p:spPr>
          <a:xfrm>
            <a:off x="164520" y="47779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Shape 36"/>
          <p:cNvSpPr/>
          <p:nvPr/>
        </p:nvSpPr>
        <p:spPr>
          <a:xfrm>
            <a:off x="8778240" y="49561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2" name="Shape 37"/>
          <p:cNvSpPr/>
          <p:nvPr/>
        </p:nvSpPr>
        <p:spPr>
          <a:xfrm>
            <a:off x="8956440" y="47779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3" name="Text 38"/>
          <p:cNvSpPr/>
          <p:nvPr/>
        </p:nvSpPr>
        <p:spPr>
          <a:xfrm>
            <a:off x="365760" y="5029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398" strike="noStrike">
                <a:solidFill>
                  <a:srgbClr val="00ff41"/>
                </a:solidFill>
                <a:latin typeface="Consolas"/>
                <a:ea typeface="Consolas"/>
              </a:rPr>
              <a:t>&gt; PIPELINE.FLOW()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74" name="Text 39"/>
          <p:cNvSpPr/>
          <p:nvPr/>
        </p:nvSpPr>
        <p:spPr>
          <a:xfrm>
            <a:off x="365760" y="75888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599" strike="noStrike">
                <a:solidFill>
                  <a:srgbClr val="00cc33"/>
                </a:solidFill>
                <a:latin typeface="Consolas"/>
                <a:ea typeface="Consolas"/>
              </a:rPr>
              <a:t>HOW IT WORKS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275" name="Shape 40"/>
          <p:cNvSpPr/>
          <p:nvPr/>
        </p:nvSpPr>
        <p:spPr>
          <a:xfrm>
            <a:off x="365760" y="1417320"/>
            <a:ext cx="548280" cy="22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6" name="Shape 41"/>
          <p:cNvSpPr/>
          <p:nvPr/>
        </p:nvSpPr>
        <p:spPr>
          <a:xfrm>
            <a:off x="960120" y="1417320"/>
            <a:ext cx="7772040" cy="2268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Shape 42"/>
          <p:cNvSpPr/>
          <p:nvPr/>
        </p:nvSpPr>
        <p:spPr>
          <a:xfrm>
            <a:off x="448200" y="2194560"/>
            <a:ext cx="1965600" cy="219420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8" name="Shape 43"/>
          <p:cNvSpPr/>
          <p:nvPr/>
        </p:nvSpPr>
        <p:spPr>
          <a:xfrm>
            <a:off x="448200" y="2194560"/>
            <a:ext cx="72720" cy="22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9" name="Shape 44"/>
          <p:cNvSpPr/>
          <p:nvPr/>
        </p:nvSpPr>
        <p:spPr>
          <a:xfrm>
            <a:off x="448200" y="2194560"/>
            <a:ext cx="22680" cy="72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0" name="Text 45"/>
          <p:cNvSpPr/>
          <p:nvPr/>
        </p:nvSpPr>
        <p:spPr>
          <a:xfrm>
            <a:off x="612720" y="2304360"/>
            <a:ext cx="1096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199" strike="noStrike">
                <a:solidFill>
                  <a:srgbClr val="00ff41"/>
                </a:solidFill>
                <a:latin typeface="Consolas"/>
                <a:ea typeface="Consola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81" name="Shape 46"/>
          <p:cNvSpPr/>
          <p:nvPr/>
        </p:nvSpPr>
        <p:spPr>
          <a:xfrm>
            <a:off x="1728360" y="2359080"/>
            <a:ext cx="63972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00882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Text 47"/>
          <p:cNvSpPr/>
          <p:nvPr/>
        </p:nvSpPr>
        <p:spPr>
          <a:xfrm>
            <a:off x="1728360" y="2359080"/>
            <a:ext cx="6397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00cc33"/>
                </a:solidFill>
                <a:latin typeface="Consolas"/>
                <a:ea typeface="Consolas"/>
              </a:rPr>
              <a:t>STEP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83" name="Shape 48"/>
          <p:cNvSpPr/>
          <p:nvPr/>
        </p:nvSpPr>
        <p:spPr>
          <a:xfrm>
            <a:off x="612720" y="2880360"/>
            <a:ext cx="1636560" cy="1800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Text 49"/>
          <p:cNvSpPr/>
          <p:nvPr/>
        </p:nvSpPr>
        <p:spPr>
          <a:xfrm>
            <a:off x="612720" y="2971800"/>
            <a:ext cx="1636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299" strike="noStrike">
                <a:solidFill>
                  <a:srgbClr val="00cc33"/>
                </a:solidFill>
                <a:latin typeface="Consolas"/>
                <a:ea typeface="Consolas"/>
              </a:rPr>
              <a:t>PICK LANGUAGE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85" name="Text 50"/>
          <p:cNvSpPr/>
          <p:nvPr/>
        </p:nvSpPr>
        <p:spPr>
          <a:xfrm>
            <a:off x="612720" y="3474720"/>
            <a:ext cx="1636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Select from 21 targets with native script support.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86" name="Text 51"/>
          <p:cNvSpPr/>
          <p:nvPr/>
        </p:nvSpPr>
        <p:spPr>
          <a:xfrm>
            <a:off x="612720" y="4114800"/>
            <a:ext cx="1636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199" strike="noStrike">
                <a:solidFill>
                  <a:srgbClr val="008824"/>
                </a:solidFill>
                <a:latin typeface="Consolas"/>
                <a:ea typeface="Consolas"/>
              </a:rPr>
              <a:t>&gt; lang.select()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87" name="Shape 52"/>
          <p:cNvSpPr/>
          <p:nvPr/>
        </p:nvSpPr>
        <p:spPr>
          <a:xfrm>
            <a:off x="2432160" y="3273480"/>
            <a:ext cx="91080" cy="31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Text 53"/>
          <p:cNvSpPr/>
          <p:nvPr/>
        </p:nvSpPr>
        <p:spPr>
          <a:xfrm>
            <a:off x="2423160" y="3163680"/>
            <a:ext cx="182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0ff41"/>
                </a:solidFill>
                <a:latin typeface="Consolas"/>
                <a:ea typeface="Consolas"/>
              </a:rPr>
              <a:t>▸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89" name="Shape 54"/>
          <p:cNvSpPr/>
          <p:nvPr/>
        </p:nvSpPr>
        <p:spPr>
          <a:xfrm>
            <a:off x="2541960" y="2194560"/>
            <a:ext cx="1965600" cy="219420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0" name="Shape 55"/>
          <p:cNvSpPr/>
          <p:nvPr/>
        </p:nvSpPr>
        <p:spPr>
          <a:xfrm>
            <a:off x="2541960" y="2194560"/>
            <a:ext cx="72720" cy="22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Shape 56"/>
          <p:cNvSpPr/>
          <p:nvPr/>
        </p:nvSpPr>
        <p:spPr>
          <a:xfrm>
            <a:off x="2541960" y="2194560"/>
            <a:ext cx="22680" cy="72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2" name="Text 57"/>
          <p:cNvSpPr/>
          <p:nvPr/>
        </p:nvSpPr>
        <p:spPr>
          <a:xfrm>
            <a:off x="2706480" y="2304360"/>
            <a:ext cx="1096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199" strike="noStrike">
                <a:solidFill>
                  <a:srgbClr val="00ff41"/>
                </a:solidFill>
                <a:latin typeface="Consolas"/>
                <a:ea typeface="Consola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93" name="Shape 58"/>
          <p:cNvSpPr/>
          <p:nvPr/>
        </p:nvSpPr>
        <p:spPr>
          <a:xfrm>
            <a:off x="3822120" y="2359080"/>
            <a:ext cx="63972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00882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4" name="Text 59"/>
          <p:cNvSpPr/>
          <p:nvPr/>
        </p:nvSpPr>
        <p:spPr>
          <a:xfrm>
            <a:off x="3822120" y="2359080"/>
            <a:ext cx="6397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00cc33"/>
                </a:solidFill>
                <a:latin typeface="Consolas"/>
                <a:ea typeface="Consolas"/>
              </a:rPr>
              <a:t>STEP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95" name="Shape 60"/>
          <p:cNvSpPr/>
          <p:nvPr/>
        </p:nvSpPr>
        <p:spPr>
          <a:xfrm>
            <a:off x="2706480" y="2880360"/>
            <a:ext cx="1636560" cy="1800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6" name="Text 61"/>
          <p:cNvSpPr/>
          <p:nvPr/>
        </p:nvSpPr>
        <p:spPr>
          <a:xfrm>
            <a:off x="2706480" y="2971800"/>
            <a:ext cx="1636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299" strike="noStrike">
                <a:solidFill>
                  <a:srgbClr val="00cc33"/>
                </a:solidFill>
                <a:latin typeface="Consolas"/>
                <a:ea typeface="Consolas"/>
              </a:rPr>
              <a:t>CHOOSE SCENE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97" name="Text 62"/>
          <p:cNvSpPr/>
          <p:nvPr/>
        </p:nvSpPr>
        <p:spPr>
          <a:xfrm>
            <a:off x="2706480" y="3474720"/>
            <a:ext cx="1636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5 scenario groups: Social · Food · Compliments · Navigation · Formal.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98" name="Text 63"/>
          <p:cNvSpPr/>
          <p:nvPr/>
        </p:nvSpPr>
        <p:spPr>
          <a:xfrm>
            <a:off x="2706480" y="4114800"/>
            <a:ext cx="1636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199" strike="noStrike">
                <a:solidFill>
                  <a:srgbClr val="008824"/>
                </a:solidFill>
                <a:latin typeface="Consolas"/>
                <a:ea typeface="Consolas"/>
              </a:rPr>
              <a:t>&gt; scene.load()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99" name="Shape 64"/>
          <p:cNvSpPr/>
          <p:nvPr/>
        </p:nvSpPr>
        <p:spPr>
          <a:xfrm>
            <a:off x="4526280" y="3273480"/>
            <a:ext cx="91080" cy="31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0" name="Text 65"/>
          <p:cNvSpPr/>
          <p:nvPr/>
        </p:nvSpPr>
        <p:spPr>
          <a:xfrm>
            <a:off x="4517280" y="3163680"/>
            <a:ext cx="182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0ff41"/>
                </a:solidFill>
                <a:latin typeface="Consolas"/>
                <a:ea typeface="Consolas"/>
              </a:rPr>
              <a:t>▸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01" name="Shape 66"/>
          <p:cNvSpPr/>
          <p:nvPr/>
        </p:nvSpPr>
        <p:spPr>
          <a:xfrm>
            <a:off x="4636080" y="2194560"/>
            <a:ext cx="1965600" cy="219420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Shape 67"/>
          <p:cNvSpPr/>
          <p:nvPr/>
        </p:nvSpPr>
        <p:spPr>
          <a:xfrm>
            <a:off x="4636080" y="2194560"/>
            <a:ext cx="72720" cy="22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3" name="Shape 68"/>
          <p:cNvSpPr/>
          <p:nvPr/>
        </p:nvSpPr>
        <p:spPr>
          <a:xfrm>
            <a:off x="4636080" y="2194560"/>
            <a:ext cx="22680" cy="72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4" name="Text 69"/>
          <p:cNvSpPr/>
          <p:nvPr/>
        </p:nvSpPr>
        <p:spPr>
          <a:xfrm>
            <a:off x="4800600" y="2304360"/>
            <a:ext cx="1096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199" strike="noStrike">
                <a:solidFill>
                  <a:srgbClr val="00ff41"/>
                </a:solidFill>
                <a:latin typeface="Consolas"/>
                <a:ea typeface="Consola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305" name="Shape 70"/>
          <p:cNvSpPr/>
          <p:nvPr/>
        </p:nvSpPr>
        <p:spPr>
          <a:xfrm>
            <a:off x="5916240" y="2359080"/>
            <a:ext cx="63972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00882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6" name="Text 71"/>
          <p:cNvSpPr/>
          <p:nvPr/>
        </p:nvSpPr>
        <p:spPr>
          <a:xfrm>
            <a:off x="5916240" y="2359080"/>
            <a:ext cx="6397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00cc33"/>
                </a:solidFill>
                <a:latin typeface="Consolas"/>
                <a:ea typeface="Consolas"/>
              </a:rPr>
              <a:t>STEP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07" name="Shape 72"/>
          <p:cNvSpPr/>
          <p:nvPr/>
        </p:nvSpPr>
        <p:spPr>
          <a:xfrm>
            <a:off x="4800600" y="2880360"/>
            <a:ext cx="1636560" cy="1800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8" name="Text 73"/>
          <p:cNvSpPr/>
          <p:nvPr/>
        </p:nvSpPr>
        <p:spPr>
          <a:xfrm>
            <a:off x="4800600" y="2971800"/>
            <a:ext cx="1636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299" strike="noStrike">
                <a:solidFill>
                  <a:srgbClr val="00cc33"/>
                </a:solidFill>
                <a:latin typeface="Consolas"/>
                <a:ea typeface="Consolas"/>
              </a:rPr>
              <a:t>PHRASES ON GLASS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09" name="Text 74"/>
          <p:cNvSpPr/>
          <p:nvPr/>
        </p:nvSpPr>
        <p:spPr>
          <a:xfrm>
            <a:off x="4800600" y="3474720"/>
            <a:ext cx="1636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EN + translation + phonetics rendered as sprites on the HUD.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10" name="Text 75"/>
          <p:cNvSpPr/>
          <p:nvPr/>
        </p:nvSpPr>
        <p:spPr>
          <a:xfrm>
            <a:off x="4800600" y="4114800"/>
            <a:ext cx="1636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199" strike="noStrike">
                <a:solidFill>
                  <a:srgbClr val="008824"/>
                </a:solidFill>
                <a:latin typeface="Consolas"/>
                <a:ea typeface="Consolas"/>
              </a:rPr>
              <a:t>&gt; hud.push()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11" name="Shape 76"/>
          <p:cNvSpPr/>
          <p:nvPr/>
        </p:nvSpPr>
        <p:spPr>
          <a:xfrm>
            <a:off x="6620400" y="3273480"/>
            <a:ext cx="91080" cy="31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Text 77"/>
          <p:cNvSpPr/>
          <p:nvPr/>
        </p:nvSpPr>
        <p:spPr>
          <a:xfrm>
            <a:off x="6611040" y="3163680"/>
            <a:ext cx="182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0ff41"/>
                </a:solidFill>
                <a:latin typeface="Consolas"/>
                <a:ea typeface="Consolas"/>
              </a:rPr>
              <a:t>▸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13" name="Shape 78"/>
          <p:cNvSpPr/>
          <p:nvPr/>
        </p:nvSpPr>
        <p:spPr>
          <a:xfrm>
            <a:off x="6729840" y="2194560"/>
            <a:ext cx="1965600" cy="219420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4" name="Shape 79"/>
          <p:cNvSpPr/>
          <p:nvPr/>
        </p:nvSpPr>
        <p:spPr>
          <a:xfrm>
            <a:off x="6729840" y="2194560"/>
            <a:ext cx="72720" cy="22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5" name="Shape 80"/>
          <p:cNvSpPr/>
          <p:nvPr/>
        </p:nvSpPr>
        <p:spPr>
          <a:xfrm>
            <a:off x="6729840" y="2194560"/>
            <a:ext cx="22680" cy="72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Text 81"/>
          <p:cNvSpPr/>
          <p:nvPr/>
        </p:nvSpPr>
        <p:spPr>
          <a:xfrm>
            <a:off x="6894720" y="2304360"/>
            <a:ext cx="1096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199" strike="noStrike">
                <a:solidFill>
                  <a:srgbClr val="00ff41"/>
                </a:solidFill>
                <a:latin typeface="Consolas"/>
                <a:ea typeface="Consolas"/>
              </a:rPr>
              <a:t>04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317" name="Shape 82"/>
          <p:cNvSpPr/>
          <p:nvPr/>
        </p:nvSpPr>
        <p:spPr>
          <a:xfrm>
            <a:off x="8010000" y="2359080"/>
            <a:ext cx="63972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00882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8" name="Text 83"/>
          <p:cNvSpPr/>
          <p:nvPr/>
        </p:nvSpPr>
        <p:spPr>
          <a:xfrm>
            <a:off x="8010000" y="2359080"/>
            <a:ext cx="6397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00cc33"/>
                </a:solidFill>
                <a:latin typeface="Consolas"/>
                <a:ea typeface="Consolas"/>
              </a:rPr>
              <a:t>STEP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19" name="Shape 84"/>
          <p:cNvSpPr/>
          <p:nvPr/>
        </p:nvSpPr>
        <p:spPr>
          <a:xfrm>
            <a:off x="6894720" y="2880360"/>
            <a:ext cx="1636560" cy="1800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0" name="Text 85"/>
          <p:cNvSpPr/>
          <p:nvPr/>
        </p:nvSpPr>
        <p:spPr>
          <a:xfrm>
            <a:off x="6894720" y="2971800"/>
            <a:ext cx="1636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299" strike="noStrike">
                <a:solidFill>
                  <a:srgbClr val="00cc33"/>
                </a:solidFill>
                <a:latin typeface="Consolas"/>
                <a:ea typeface="Consolas"/>
              </a:rPr>
              <a:t>SPEAK &amp; LISTEN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1" name="Text 86"/>
          <p:cNvSpPr/>
          <p:nvPr/>
        </p:nvSpPr>
        <p:spPr>
          <a:xfrm>
            <a:off x="6894720" y="3474720"/>
            <a:ext cx="1636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Smallest.ai Pulse captures your conversation in real-time.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22" name="Text 87"/>
          <p:cNvSpPr/>
          <p:nvPr/>
        </p:nvSpPr>
        <p:spPr>
          <a:xfrm>
            <a:off x="6894720" y="4114800"/>
            <a:ext cx="1636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199" strike="noStrike">
                <a:solidFill>
                  <a:srgbClr val="008824"/>
                </a:solidFill>
                <a:latin typeface="Consolas"/>
                <a:ea typeface="Consolas"/>
              </a:rPr>
              <a:t>&gt; stt.stream()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23" name="Shape 88"/>
          <p:cNvSpPr/>
          <p:nvPr/>
        </p:nvSpPr>
        <p:spPr>
          <a:xfrm>
            <a:off x="411480" y="4608720"/>
            <a:ext cx="91080" cy="91080"/>
          </a:xfrm>
          <a:prstGeom prst="ellipse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4" name="Text 89"/>
          <p:cNvSpPr/>
          <p:nvPr/>
        </p:nvSpPr>
        <p:spPr>
          <a:xfrm>
            <a:off x="548640" y="4572000"/>
            <a:ext cx="8229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PIPELINE ACTIVE  //  PROCESSING...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Shape 0"/>
          <p:cNvSpPr/>
          <p:nvPr/>
        </p:nvSpPr>
        <p:spPr>
          <a:xfrm>
            <a:off x="0" y="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Shape 1"/>
          <p:cNvSpPr/>
          <p:nvPr/>
        </p:nvSpPr>
        <p:spPr>
          <a:xfrm>
            <a:off x="0" y="233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7" name="Shape 2"/>
          <p:cNvSpPr/>
          <p:nvPr/>
        </p:nvSpPr>
        <p:spPr>
          <a:xfrm>
            <a:off x="0" y="467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8" name="Shape 3"/>
          <p:cNvSpPr/>
          <p:nvPr/>
        </p:nvSpPr>
        <p:spPr>
          <a:xfrm>
            <a:off x="0" y="701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9" name="Shape 4"/>
          <p:cNvSpPr/>
          <p:nvPr/>
        </p:nvSpPr>
        <p:spPr>
          <a:xfrm>
            <a:off x="0" y="935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Shape 5"/>
          <p:cNvSpPr/>
          <p:nvPr/>
        </p:nvSpPr>
        <p:spPr>
          <a:xfrm>
            <a:off x="0" y="1168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1" name="Shape 6"/>
          <p:cNvSpPr/>
          <p:nvPr/>
        </p:nvSpPr>
        <p:spPr>
          <a:xfrm>
            <a:off x="0" y="1402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2" name="Shape 7"/>
          <p:cNvSpPr/>
          <p:nvPr/>
        </p:nvSpPr>
        <p:spPr>
          <a:xfrm>
            <a:off x="0" y="16365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Shape 8"/>
          <p:cNvSpPr/>
          <p:nvPr/>
        </p:nvSpPr>
        <p:spPr>
          <a:xfrm>
            <a:off x="0" y="1870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4" name="Shape 9"/>
          <p:cNvSpPr/>
          <p:nvPr/>
        </p:nvSpPr>
        <p:spPr>
          <a:xfrm>
            <a:off x="0" y="2104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5" name="Shape 10"/>
          <p:cNvSpPr/>
          <p:nvPr/>
        </p:nvSpPr>
        <p:spPr>
          <a:xfrm>
            <a:off x="0" y="2337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6" name="Shape 11"/>
          <p:cNvSpPr/>
          <p:nvPr/>
        </p:nvSpPr>
        <p:spPr>
          <a:xfrm>
            <a:off x="0" y="2571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Shape 12"/>
          <p:cNvSpPr/>
          <p:nvPr/>
        </p:nvSpPr>
        <p:spPr>
          <a:xfrm>
            <a:off x="0" y="2805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8" name="Shape 13"/>
          <p:cNvSpPr/>
          <p:nvPr/>
        </p:nvSpPr>
        <p:spPr>
          <a:xfrm>
            <a:off x="0" y="3039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Shape 14"/>
          <p:cNvSpPr/>
          <p:nvPr/>
        </p:nvSpPr>
        <p:spPr>
          <a:xfrm>
            <a:off x="0" y="32731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0" name="Shape 15"/>
          <p:cNvSpPr/>
          <p:nvPr/>
        </p:nvSpPr>
        <p:spPr>
          <a:xfrm>
            <a:off x="0" y="3506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1" name="Shape 16"/>
          <p:cNvSpPr/>
          <p:nvPr/>
        </p:nvSpPr>
        <p:spPr>
          <a:xfrm>
            <a:off x="0" y="3740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Shape 17"/>
          <p:cNvSpPr/>
          <p:nvPr/>
        </p:nvSpPr>
        <p:spPr>
          <a:xfrm>
            <a:off x="0" y="3974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Shape 18"/>
          <p:cNvSpPr/>
          <p:nvPr/>
        </p:nvSpPr>
        <p:spPr>
          <a:xfrm>
            <a:off x="0" y="4208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4" name="Shape 19"/>
          <p:cNvSpPr/>
          <p:nvPr/>
        </p:nvSpPr>
        <p:spPr>
          <a:xfrm>
            <a:off x="0" y="4442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hape 20"/>
          <p:cNvSpPr/>
          <p:nvPr/>
        </p:nvSpPr>
        <p:spPr>
          <a:xfrm>
            <a:off x="0" y="4676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Shape 21"/>
          <p:cNvSpPr/>
          <p:nvPr/>
        </p:nvSpPr>
        <p:spPr>
          <a:xfrm>
            <a:off x="0" y="49096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7" name="Shape 22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8" name="Shape 23"/>
          <p:cNvSpPr/>
          <p:nvPr/>
        </p:nvSpPr>
        <p:spPr>
          <a:xfrm>
            <a:off x="0" y="29268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24"/>
          <p:cNvSpPr/>
          <p:nvPr/>
        </p:nvSpPr>
        <p:spPr>
          <a:xfrm>
            <a:off x="20124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▸ </a:t>
            </a: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SECTION 04 / 08  //  STACK.ENUMERATE()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50" name="Text 25"/>
          <p:cNvSpPr/>
          <p:nvPr/>
        </p:nvSpPr>
        <p:spPr>
          <a:xfrm>
            <a:off x="347472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199" strike="noStrike">
                <a:solidFill>
                  <a:srgbClr val="7a7a7a"/>
                </a:solidFill>
                <a:latin typeface="Consolas"/>
                <a:ea typeface="Consolas"/>
              </a:rPr>
              <a:t>LINGUA_FRANCA // v1.0.0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51" name="Shape 26"/>
          <p:cNvSpPr/>
          <p:nvPr/>
        </p:nvSpPr>
        <p:spPr>
          <a:xfrm>
            <a:off x="8915400" y="114480"/>
            <a:ext cx="6372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2" name="Shape 27"/>
          <p:cNvSpPr/>
          <p:nvPr/>
        </p:nvSpPr>
        <p:spPr>
          <a:xfrm>
            <a:off x="0" y="4887360"/>
            <a:ext cx="9143640" cy="25560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Shape 28"/>
          <p:cNvSpPr/>
          <p:nvPr/>
        </p:nvSpPr>
        <p:spPr>
          <a:xfrm>
            <a:off x="0" y="487656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4" name="Text 29"/>
          <p:cNvSpPr/>
          <p:nvPr/>
        </p:nvSpPr>
        <p:spPr>
          <a:xfrm>
            <a:off x="274320" y="4887360"/>
            <a:ext cx="8595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299" strike="noStrike">
                <a:solidFill>
                  <a:srgbClr val="008824"/>
                </a:solidFill>
                <a:latin typeface="Consolas"/>
                <a:ea typeface="Consolas"/>
              </a:rPr>
              <a:t>STATUS: READY   ●   UPLINK STABLE   ●   RED_CAMBRIA @ 2026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55" name="Shape 30"/>
          <p:cNvSpPr/>
          <p:nvPr/>
        </p:nvSpPr>
        <p:spPr>
          <a:xfrm>
            <a:off x="164520" y="1645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6" name="Shape 31"/>
          <p:cNvSpPr/>
          <p:nvPr/>
        </p:nvSpPr>
        <p:spPr>
          <a:xfrm>
            <a:off x="164520" y="1645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7" name="Shape 32"/>
          <p:cNvSpPr/>
          <p:nvPr/>
        </p:nvSpPr>
        <p:spPr>
          <a:xfrm>
            <a:off x="8778240" y="1645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8" name="Shape 33"/>
          <p:cNvSpPr/>
          <p:nvPr/>
        </p:nvSpPr>
        <p:spPr>
          <a:xfrm>
            <a:off x="8956440" y="1645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9" name="Shape 34"/>
          <p:cNvSpPr/>
          <p:nvPr/>
        </p:nvSpPr>
        <p:spPr>
          <a:xfrm>
            <a:off x="164520" y="49561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0" name="Shape 35"/>
          <p:cNvSpPr/>
          <p:nvPr/>
        </p:nvSpPr>
        <p:spPr>
          <a:xfrm>
            <a:off x="164520" y="47779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1" name="Shape 36"/>
          <p:cNvSpPr/>
          <p:nvPr/>
        </p:nvSpPr>
        <p:spPr>
          <a:xfrm>
            <a:off x="8778240" y="49561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2" name="Shape 37"/>
          <p:cNvSpPr/>
          <p:nvPr/>
        </p:nvSpPr>
        <p:spPr>
          <a:xfrm>
            <a:off x="8956440" y="47779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3" name="Text 38"/>
          <p:cNvSpPr/>
          <p:nvPr/>
        </p:nvSpPr>
        <p:spPr>
          <a:xfrm>
            <a:off x="365760" y="5029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398" strike="noStrike">
                <a:solidFill>
                  <a:srgbClr val="00ff41"/>
                </a:solidFill>
                <a:latin typeface="Consolas"/>
                <a:ea typeface="Consolas"/>
              </a:rPr>
              <a:t>&gt; STACK.ENUMERATE()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64" name="Text 39"/>
          <p:cNvSpPr/>
          <p:nvPr/>
        </p:nvSpPr>
        <p:spPr>
          <a:xfrm>
            <a:off x="365760" y="75888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599" strike="noStrike">
                <a:solidFill>
                  <a:srgbClr val="00cc33"/>
                </a:solidFill>
                <a:latin typeface="Consolas"/>
                <a:ea typeface="Consolas"/>
              </a:rPr>
              <a:t>TECH STACK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365" name="Shape 40"/>
          <p:cNvSpPr/>
          <p:nvPr/>
        </p:nvSpPr>
        <p:spPr>
          <a:xfrm>
            <a:off x="365760" y="1417320"/>
            <a:ext cx="548280" cy="22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6" name="Shape 41"/>
          <p:cNvSpPr/>
          <p:nvPr/>
        </p:nvSpPr>
        <p:spPr>
          <a:xfrm>
            <a:off x="960120" y="1417320"/>
            <a:ext cx="7772040" cy="2268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7" name="Text 42"/>
          <p:cNvSpPr/>
          <p:nvPr/>
        </p:nvSpPr>
        <p:spPr>
          <a:xfrm>
            <a:off x="365760" y="1371600"/>
            <a:ext cx="5668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199" strike="noStrike">
                <a:solidFill>
                  <a:srgbClr val="008824"/>
                </a:solidFill>
                <a:latin typeface="Consolas"/>
                <a:ea typeface="Consolas"/>
              </a:rPr>
              <a:t>MODULE_ID           COMPONENT                    STATUS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68" name="Shape 43"/>
          <p:cNvSpPr/>
          <p:nvPr/>
        </p:nvSpPr>
        <p:spPr>
          <a:xfrm>
            <a:off x="365760" y="1645920"/>
            <a:ext cx="566892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Shape 44"/>
          <p:cNvSpPr/>
          <p:nvPr/>
        </p:nvSpPr>
        <p:spPr>
          <a:xfrm>
            <a:off x="365760" y="1691640"/>
            <a:ext cx="5668920" cy="46584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0" name="Text 45"/>
          <p:cNvSpPr/>
          <p:nvPr/>
        </p:nvSpPr>
        <p:spPr>
          <a:xfrm>
            <a:off x="475560" y="1691640"/>
            <a:ext cx="146268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8824"/>
                </a:solidFill>
                <a:latin typeface="Consolas"/>
                <a:ea typeface="Consolas"/>
              </a:rPr>
              <a:t>hw.g2         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71" name="Text 46"/>
          <p:cNvSpPr/>
          <p:nvPr/>
        </p:nvSpPr>
        <p:spPr>
          <a:xfrm>
            <a:off x="1783080" y="172836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199" strike="noStrike">
                <a:solidFill>
                  <a:srgbClr val="00ff41"/>
                </a:solidFill>
                <a:latin typeface="Consolas"/>
                <a:ea typeface="Consolas"/>
              </a:rPr>
              <a:t>EVEN REALITIES G2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72" name="Text 47"/>
          <p:cNvSpPr/>
          <p:nvPr/>
        </p:nvSpPr>
        <p:spPr>
          <a:xfrm>
            <a:off x="1783080" y="1929240"/>
            <a:ext cx="3108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97" strike="noStrike">
                <a:solidFill>
                  <a:srgbClr val="c8c8c8"/>
                </a:solidFill>
                <a:latin typeface="Consolas"/>
                <a:ea typeface="Consolas"/>
              </a:rPr>
              <a:t>576×288 · 4-bit gray · green micro-LED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73" name="Shape 48"/>
          <p:cNvSpPr/>
          <p:nvPr/>
        </p:nvSpPr>
        <p:spPr>
          <a:xfrm>
            <a:off x="5120640" y="1819800"/>
            <a:ext cx="84096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4" name="Text 49"/>
          <p:cNvSpPr/>
          <p:nvPr/>
        </p:nvSpPr>
        <p:spPr>
          <a:xfrm>
            <a:off x="5120640" y="1819800"/>
            <a:ext cx="840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00ff41"/>
                </a:solidFill>
                <a:latin typeface="Consolas"/>
                <a:ea typeface="Consolas"/>
              </a:rPr>
              <a:t>[ONLINE]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75" name="Text 50"/>
          <p:cNvSpPr/>
          <p:nvPr/>
        </p:nvSpPr>
        <p:spPr>
          <a:xfrm>
            <a:off x="475560" y="2194560"/>
            <a:ext cx="146268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8824"/>
                </a:solidFill>
                <a:latin typeface="Consolas"/>
                <a:ea typeface="Consolas"/>
              </a:rPr>
              <a:t>sdk.hub       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76" name="Text 51"/>
          <p:cNvSpPr/>
          <p:nvPr/>
        </p:nvSpPr>
        <p:spPr>
          <a:xfrm>
            <a:off x="1783080" y="223128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199" strike="noStrike">
                <a:solidFill>
                  <a:srgbClr val="00ff41"/>
                </a:solidFill>
                <a:latin typeface="Consolas"/>
                <a:ea typeface="Consolas"/>
              </a:rPr>
              <a:t>EVENHUB SDK v0.0.9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783080" y="2432160"/>
            <a:ext cx="3108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97" strike="noStrike">
                <a:solidFill>
                  <a:srgbClr val="c8c8c8"/>
                </a:solidFill>
                <a:latin typeface="Consolas"/>
                <a:ea typeface="Consolas"/>
              </a:rPr>
              <a:t>Bluetooth LE · sprite render · audio capture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78" name="Shape 53"/>
          <p:cNvSpPr/>
          <p:nvPr/>
        </p:nvSpPr>
        <p:spPr>
          <a:xfrm>
            <a:off x="5120640" y="2322720"/>
            <a:ext cx="84096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9" name="Text 54"/>
          <p:cNvSpPr/>
          <p:nvPr/>
        </p:nvSpPr>
        <p:spPr>
          <a:xfrm>
            <a:off x="5120640" y="2322720"/>
            <a:ext cx="840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00ff41"/>
                </a:solidFill>
                <a:latin typeface="Consolas"/>
                <a:ea typeface="Consolas"/>
              </a:rPr>
              <a:t>[ONLINE]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80" name="Shape 55"/>
          <p:cNvSpPr/>
          <p:nvPr/>
        </p:nvSpPr>
        <p:spPr>
          <a:xfrm>
            <a:off x="365760" y="2697480"/>
            <a:ext cx="5668920" cy="46584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1" name="Text 56"/>
          <p:cNvSpPr/>
          <p:nvPr/>
        </p:nvSpPr>
        <p:spPr>
          <a:xfrm>
            <a:off x="475560" y="2697480"/>
            <a:ext cx="146268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8824"/>
                </a:solidFill>
                <a:latin typeface="Consolas"/>
                <a:ea typeface="Consolas"/>
              </a:rPr>
              <a:t>stt.pulse     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82" name="Text 57"/>
          <p:cNvSpPr/>
          <p:nvPr/>
        </p:nvSpPr>
        <p:spPr>
          <a:xfrm>
            <a:off x="1783080" y="273420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199" strike="noStrike">
                <a:solidFill>
                  <a:srgbClr val="00ff41"/>
                </a:solidFill>
                <a:latin typeface="Consolas"/>
                <a:ea typeface="Consolas"/>
              </a:rPr>
              <a:t>SMALLEST.AI PULSE STT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83" name="Text 58"/>
          <p:cNvSpPr/>
          <p:nvPr/>
        </p:nvSpPr>
        <p:spPr>
          <a:xfrm>
            <a:off x="1783080" y="2935080"/>
            <a:ext cx="3108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97" strike="noStrike">
                <a:solidFill>
                  <a:srgbClr val="c8c8c8"/>
                </a:solidFill>
                <a:latin typeface="Consolas"/>
                <a:ea typeface="Consolas"/>
              </a:rPr>
              <a:t>WebSocket · 64ms TTFT · 30+ langs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84" name="Shape 59"/>
          <p:cNvSpPr/>
          <p:nvPr/>
        </p:nvSpPr>
        <p:spPr>
          <a:xfrm>
            <a:off x="5120640" y="2825640"/>
            <a:ext cx="84096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3ca0e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Text 60"/>
          <p:cNvSpPr/>
          <p:nvPr/>
        </p:nvSpPr>
        <p:spPr>
          <a:xfrm>
            <a:off x="5120640" y="2825640"/>
            <a:ext cx="840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3ca0e0"/>
                </a:solidFill>
                <a:latin typeface="Consolas"/>
                <a:ea typeface="Consolas"/>
              </a:rPr>
              <a:t>[STREAM]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86" name="Text 61"/>
          <p:cNvSpPr/>
          <p:nvPr/>
        </p:nvSpPr>
        <p:spPr>
          <a:xfrm>
            <a:off x="475560" y="3200400"/>
            <a:ext cx="146268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8824"/>
                </a:solidFill>
                <a:latin typeface="Consolas"/>
                <a:ea typeface="Consolas"/>
              </a:rPr>
              <a:t>app.core      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87" name="Text 62"/>
          <p:cNvSpPr/>
          <p:nvPr/>
        </p:nvSpPr>
        <p:spPr>
          <a:xfrm>
            <a:off x="1783080" y="323712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199" strike="noStrike">
                <a:solidFill>
                  <a:srgbClr val="00ff41"/>
                </a:solidFill>
                <a:latin typeface="Consolas"/>
                <a:ea typeface="Consolas"/>
              </a:rPr>
              <a:t>TYPESCRIPT + VITE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88" name="Text 63"/>
          <p:cNvSpPr/>
          <p:nvPr/>
        </p:nvSpPr>
        <p:spPr>
          <a:xfrm>
            <a:off x="1783080" y="3438000"/>
            <a:ext cx="3108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97" strike="noStrike">
                <a:solidFill>
                  <a:srgbClr val="c8c8c8"/>
                </a:solidFill>
                <a:latin typeface="Consolas"/>
                <a:ea typeface="Consolas"/>
              </a:rPr>
              <a:t>Modular code · fast HMR · GitHub Pages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89" name="Shape 64"/>
          <p:cNvSpPr/>
          <p:nvPr/>
        </p:nvSpPr>
        <p:spPr>
          <a:xfrm>
            <a:off x="5120640" y="3328560"/>
            <a:ext cx="76320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ffb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0" name="Text 65"/>
          <p:cNvSpPr/>
          <p:nvPr/>
        </p:nvSpPr>
        <p:spPr>
          <a:xfrm>
            <a:off x="5120640" y="3328560"/>
            <a:ext cx="763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ffb000"/>
                </a:solidFill>
                <a:latin typeface="Consolas"/>
                <a:ea typeface="Consolas"/>
              </a:rPr>
              <a:t>[BUILD]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91" name="Shape 66"/>
          <p:cNvSpPr/>
          <p:nvPr/>
        </p:nvSpPr>
        <p:spPr>
          <a:xfrm>
            <a:off x="365760" y="3703320"/>
            <a:ext cx="5668920" cy="46584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2" name="Text 67"/>
          <p:cNvSpPr/>
          <p:nvPr/>
        </p:nvSpPr>
        <p:spPr>
          <a:xfrm>
            <a:off x="475560" y="3703320"/>
            <a:ext cx="146268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8824"/>
                </a:solidFill>
                <a:latin typeface="Consolas"/>
                <a:ea typeface="Consolas"/>
              </a:rPr>
              <a:t>gfx.sprite    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93" name="Text 68"/>
          <p:cNvSpPr/>
          <p:nvPr/>
        </p:nvSpPr>
        <p:spPr>
          <a:xfrm>
            <a:off x="1783080" y="374004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199" strike="noStrike">
                <a:solidFill>
                  <a:srgbClr val="00ff41"/>
                </a:solidFill>
                <a:latin typeface="Consolas"/>
                <a:ea typeface="Consolas"/>
              </a:rPr>
              <a:t>CUSTOM SPRITE SYSTEM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94" name="Text 69"/>
          <p:cNvSpPr/>
          <p:nvPr/>
        </p:nvSpPr>
        <p:spPr>
          <a:xfrm>
            <a:off x="1783080" y="3940920"/>
            <a:ext cx="3108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97" strike="noStrike">
                <a:solidFill>
                  <a:srgbClr val="c8c8c8"/>
                </a:solidFill>
                <a:latin typeface="Consolas"/>
                <a:ea typeface="Consolas"/>
              </a:rPr>
              <a:t>D3-rendered PNGs pushed via SDK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95" name="Shape 70"/>
          <p:cNvSpPr/>
          <p:nvPr/>
        </p:nvSpPr>
        <p:spPr>
          <a:xfrm>
            <a:off x="5120640" y="3831480"/>
            <a:ext cx="84096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b06bd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6" name="Text 71"/>
          <p:cNvSpPr/>
          <p:nvPr/>
        </p:nvSpPr>
        <p:spPr>
          <a:xfrm>
            <a:off x="5120640" y="3831480"/>
            <a:ext cx="840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b06bd6"/>
                </a:solidFill>
                <a:latin typeface="Consolas"/>
                <a:ea typeface="Consolas"/>
              </a:rPr>
              <a:t>[ACTIVE]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97" name="Text 72"/>
          <p:cNvSpPr/>
          <p:nvPr/>
        </p:nvSpPr>
        <p:spPr>
          <a:xfrm>
            <a:off x="6263640" y="1371600"/>
            <a:ext cx="2514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299" strike="noStrike">
                <a:solidFill>
                  <a:srgbClr val="008824"/>
                </a:solidFill>
                <a:latin typeface="Consolas"/>
                <a:ea typeface="Consolas"/>
              </a:rPr>
              <a:t>ARCHITECTURE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98" name="Shape 73"/>
          <p:cNvSpPr/>
          <p:nvPr/>
        </p:nvSpPr>
        <p:spPr>
          <a:xfrm>
            <a:off x="6263640" y="1645920"/>
            <a:ext cx="25142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Shape 74"/>
          <p:cNvSpPr/>
          <p:nvPr/>
        </p:nvSpPr>
        <p:spPr>
          <a:xfrm>
            <a:off x="6263640" y="1737360"/>
            <a:ext cx="2514240" cy="38376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0" name="Text 75"/>
          <p:cNvSpPr/>
          <p:nvPr/>
        </p:nvSpPr>
        <p:spPr>
          <a:xfrm>
            <a:off x="6373440" y="1764720"/>
            <a:ext cx="22399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9" strike="noStrike">
                <a:solidFill>
                  <a:srgbClr val="00ff41"/>
                </a:solidFill>
                <a:latin typeface="Consolas"/>
                <a:ea typeface="Consolas"/>
              </a:rPr>
              <a:t>G2 GLASSES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01" name="Text 76"/>
          <p:cNvSpPr/>
          <p:nvPr/>
        </p:nvSpPr>
        <p:spPr>
          <a:xfrm>
            <a:off x="6373440" y="1938600"/>
            <a:ext cx="2239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7a7a7a"/>
                </a:solidFill>
                <a:latin typeface="Consolas"/>
                <a:ea typeface="Consolas"/>
              </a:rPr>
              <a:t>hardware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02" name="Shape 77"/>
          <p:cNvSpPr/>
          <p:nvPr/>
        </p:nvSpPr>
        <p:spPr>
          <a:xfrm>
            <a:off x="8577000" y="1883520"/>
            <a:ext cx="91080" cy="91080"/>
          </a:xfrm>
          <a:prstGeom prst="ellipse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3" name="Shape 78"/>
          <p:cNvSpPr/>
          <p:nvPr/>
        </p:nvSpPr>
        <p:spPr>
          <a:xfrm>
            <a:off x="7511760" y="2121480"/>
            <a:ext cx="18000" cy="10944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4" name="Shape 79"/>
          <p:cNvSpPr/>
          <p:nvPr/>
        </p:nvSpPr>
        <p:spPr>
          <a:xfrm>
            <a:off x="6263640" y="2231280"/>
            <a:ext cx="2514240" cy="38376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5" name="Text 80"/>
          <p:cNvSpPr/>
          <p:nvPr/>
        </p:nvSpPr>
        <p:spPr>
          <a:xfrm>
            <a:off x="6373440" y="2258640"/>
            <a:ext cx="22399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9" strike="noStrike">
                <a:solidFill>
                  <a:srgbClr val="00ff41"/>
                </a:solidFill>
                <a:latin typeface="Consolas"/>
                <a:ea typeface="Consolas"/>
              </a:rPr>
              <a:t>EVENHUB SDK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06" name="Text 81"/>
          <p:cNvSpPr/>
          <p:nvPr/>
        </p:nvSpPr>
        <p:spPr>
          <a:xfrm>
            <a:off x="6373440" y="2432160"/>
            <a:ext cx="2239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7a7a7a"/>
                </a:solidFill>
                <a:latin typeface="Consolas"/>
                <a:ea typeface="Consolas"/>
              </a:rPr>
              <a:t>bluetooth LE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07" name="Shape 82"/>
          <p:cNvSpPr/>
          <p:nvPr/>
        </p:nvSpPr>
        <p:spPr>
          <a:xfrm>
            <a:off x="8577000" y="2377440"/>
            <a:ext cx="91080" cy="91080"/>
          </a:xfrm>
          <a:prstGeom prst="ellipse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8" name="Shape 83"/>
          <p:cNvSpPr/>
          <p:nvPr/>
        </p:nvSpPr>
        <p:spPr>
          <a:xfrm>
            <a:off x="7511760" y="2615040"/>
            <a:ext cx="18000" cy="10944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9" name="Shape 84"/>
          <p:cNvSpPr/>
          <p:nvPr/>
        </p:nvSpPr>
        <p:spPr>
          <a:xfrm>
            <a:off x="6263640" y="2724840"/>
            <a:ext cx="2514240" cy="38376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85"/>
          <p:cNvSpPr/>
          <p:nvPr/>
        </p:nvSpPr>
        <p:spPr>
          <a:xfrm>
            <a:off x="6373440" y="2752200"/>
            <a:ext cx="22399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9" strike="noStrike">
                <a:solidFill>
                  <a:srgbClr val="00ff41"/>
                </a:solidFill>
                <a:latin typeface="Consolas"/>
                <a:ea typeface="Consolas"/>
              </a:rPr>
              <a:t>PHONE DASHBOARD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11" name="Text 86"/>
          <p:cNvSpPr/>
          <p:nvPr/>
        </p:nvSpPr>
        <p:spPr>
          <a:xfrm>
            <a:off x="6373440" y="2926080"/>
            <a:ext cx="2239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7a7a7a"/>
                </a:solidFill>
                <a:latin typeface="Consolas"/>
                <a:ea typeface="Consolas"/>
              </a:rPr>
              <a:t>typescript / vite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12" name="Shape 87"/>
          <p:cNvSpPr/>
          <p:nvPr/>
        </p:nvSpPr>
        <p:spPr>
          <a:xfrm>
            <a:off x="8577000" y="2871360"/>
            <a:ext cx="91080" cy="91080"/>
          </a:xfrm>
          <a:prstGeom prst="ellipse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3" name="Shape 88"/>
          <p:cNvSpPr/>
          <p:nvPr/>
        </p:nvSpPr>
        <p:spPr>
          <a:xfrm>
            <a:off x="7511760" y="3108960"/>
            <a:ext cx="18000" cy="10944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Shape 89"/>
          <p:cNvSpPr/>
          <p:nvPr/>
        </p:nvSpPr>
        <p:spPr>
          <a:xfrm>
            <a:off x="6263640" y="3218760"/>
            <a:ext cx="2514240" cy="38376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5" name="Text 90"/>
          <p:cNvSpPr/>
          <p:nvPr/>
        </p:nvSpPr>
        <p:spPr>
          <a:xfrm>
            <a:off x="6373440" y="3246120"/>
            <a:ext cx="22399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9" strike="noStrike">
                <a:solidFill>
                  <a:srgbClr val="00ff41"/>
                </a:solidFill>
                <a:latin typeface="Consolas"/>
                <a:ea typeface="Consolas"/>
              </a:rPr>
              <a:t>WS PROXY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16" name="Text 91"/>
          <p:cNvSpPr/>
          <p:nvPr/>
        </p:nvSpPr>
        <p:spPr>
          <a:xfrm>
            <a:off x="6373440" y="3420000"/>
            <a:ext cx="2239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7a7a7a"/>
                </a:solidFill>
                <a:latin typeface="Consolas"/>
                <a:ea typeface="Consolas"/>
              </a:rPr>
              <a:t>websocket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17" name="Shape 92"/>
          <p:cNvSpPr/>
          <p:nvPr/>
        </p:nvSpPr>
        <p:spPr>
          <a:xfrm>
            <a:off x="8577000" y="3364920"/>
            <a:ext cx="91080" cy="91080"/>
          </a:xfrm>
          <a:prstGeom prst="ellipse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Shape 93"/>
          <p:cNvSpPr/>
          <p:nvPr/>
        </p:nvSpPr>
        <p:spPr>
          <a:xfrm>
            <a:off x="7511760" y="3602880"/>
            <a:ext cx="18000" cy="10944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9" name="Shape 94"/>
          <p:cNvSpPr/>
          <p:nvPr/>
        </p:nvSpPr>
        <p:spPr>
          <a:xfrm>
            <a:off x="6263640" y="3712320"/>
            <a:ext cx="2514240" cy="38376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0" name="Text 95"/>
          <p:cNvSpPr/>
          <p:nvPr/>
        </p:nvSpPr>
        <p:spPr>
          <a:xfrm>
            <a:off x="6373440" y="3740040"/>
            <a:ext cx="22399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9" strike="noStrike">
                <a:solidFill>
                  <a:srgbClr val="00ff41"/>
                </a:solidFill>
                <a:latin typeface="Consolas"/>
                <a:ea typeface="Consolas"/>
              </a:rPr>
              <a:t>SMALLEST.AI STT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21" name="Text 96"/>
          <p:cNvSpPr/>
          <p:nvPr/>
        </p:nvSpPr>
        <p:spPr>
          <a:xfrm>
            <a:off x="6373440" y="3913560"/>
            <a:ext cx="2239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7a7a7a"/>
                </a:solidFill>
                <a:latin typeface="Consolas"/>
                <a:ea typeface="Consolas"/>
              </a:rPr>
              <a:t>cloud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22" name="Shape 97"/>
          <p:cNvSpPr/>
          <p:nvPr/>
        </p:nvSpPr>
        <p:spPr>
          <a:xfrm>
            <a:off x="8577000" y="3858840"/>
            <a:ext cx="91080" cy="91080"/>
          </a:xfrm>
          <a:prstGeom prst="ellipse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Shape 0"/>
          <p:cNvSpPr/>
          <p:nvPr/>
        </p:nvSpPr>
        <p:spPr>
          <a:xfrm>
            <a:off x="0" y="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4" name="Shape 1"/>
          <p:cNvSpPr/>
          <p:nvPr/>
        </p:nvSpPr>
        <p:spPr>
          <a:xfrm>
            <a:off x="0" y="233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Shape 2"/>
          <p:cNvSpPr/>
          <p:nvPr/>
        </p:nvSpPr>
        <p:spPr>
          <a:xfrm>
            <a:off x="0" y="467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6" name="Shape 3"/>
          <p:cNvSpPr/>
          <p:nvPr/>
        </p:nvSpPr>
        <p:spPr>
          <a:xfrm>
            <a:off x="0" y="701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Shape 4"/>
          <p:cNvSpPr/>
          <p:nvPr/>
        </p:nvSpPr>
        <p:spPr>
          <a:xfrm>
            <a:off x="0" y="935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8" name="Shape 5"/>
          <p:cNvSpPr/>
          <p:nvPr/>
        </p:nvSpPr>
        <p:spPr>
          <a:xfrm>
            <a:off x="0" y="1168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9" name="Shape 6"/>
          <p:cNvSpPr/>
          <p:nvPr/>
        </p:nvSpPr>
        <p:spPr>
          <a:xfrm>
            <a:off x="0" y="1402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0" name="Shape 7"/>
          <p:cNvSpPr/>
          <p:nvPr/>
        </p:nvSpPr>
        <p:spPr>
          <a:xfrm>
            <a:off x="0" y="16365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Shape 8"/>
          <p:cNvSpPr/>
          <p:nvPr/>
        </p:nvSpPr>
        <p:spPr>
          <a:xfrm>
            <a:off x="0" y="1870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2" name="Shape 9"/>
          <p:cNvSpPr/>
          <p:nvPr/>
        </p:nvSpPr>
        <p:spPr>
          <a:xfrm>
            <a:off x="0" y="2104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3" name="Shape 10"/>
          <p:cNvSpPr/>
          <p:nvPr/>
        </p:nvSpPr>
        <p:spPr>
          <a:xfrm>
            <a:off x="0" y="2337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4" name="Shape 11"/>
          <p:cNvSpPr/>
          <p:nvPr/>
        </p:nvSpPr>
        <p:spPr>
          <a:xfrm>
            <a:off x="0" y="2571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5" name="Shape 12"/>
          <p:cNvSpPr/>
          <p:nvPr/>
        </p:nvSpPr>
        <p:spPr>
          <a:xfrm>
            <a:off x="0" y="2805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6" name="Shape 13"/>
          <p:cNvSpPr/>
          <p:nvPr/>
        </p:nvSpPr>
        <p:spPr>
          <a:xfrm>
            <a:off x="0" y="3039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7" name="Shape 14"/>
          <p:cNvSpPr/>
          <p:nvPr/>
        </p:nvSpPr>
        <p:spPr>
          <a:xfrm>
            <a:off x="0" y="32731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Shape 15"/>
          <p:cNvSpPr/>
          <p:nvPr/>
        </p:nvSpPr>
        <p:spPr>
          <a:xfrm>
            <a:off x="0" y="3506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9" name="Shape 16"/>
          <p:cNvSpPr/>
          <p:nvPr/>
        </p:nvSpPr>
        <p:spPr>
          <a:xfrm>
            <a:off x="0" y="3740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0" name="Shape 17"/>
          <p:cNvSpPr/>
          <p:nvPr/>
        </p:nvSpPr>
        <p:spPr>
          <a:xfrm>
            <a:off x="0" y="3974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Shape 18"/>
          <p:cNvSpPr/>
          <p:nvPr/>
        </p:nvSpPr>
        <p:spPr>
          <a:xfrm>
            <a:off x="0" y="4208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2" name="Shape 19"/>
          <p:cNvSpPr/>
          <p:nvPr/>
        </p:nvSpPr>
        <p:spPr>
          <a:xfrm>
            <a:off x="0" y="4442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3" name="Shape 20"/>
          <p:cNvSpPr/>
          <p:nvPr/>
        </p:nvSpPr>
        <p:spPr>
          <a:xfrm>
            <a:off x="0" y="4676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4" name="Shape 21"/>
          <p:cNvSpPr/>
          <p:nvPr/>
        </p:nvSpPr>
        <p:spPr>
          <a:xfrm>
            <a:off x="0" y="49096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5" name="Shape 22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6" name="Shape 23"/>
          <p:cNvSpPr/>
          <p:nvPr/>
        </p:nvSpPr>
        <p:spPr>
          <a:xfrm>
            <a:off x="0" y="29268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7" name="Text 24"/>
          <p:cNvSpPr/>
          <p:nvPr/>
        </p:nvSpPr>
        <p:spPr>
          <a:xfrm>
            <a:off x="20124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▸ </a:t>
            </a: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SECTION 05 / 08  //  FEATURES.LIST()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448" name="Text 25"/>
          <p:cNvSpPr/>
          <p:nvPr/>
        </p:nvSpPr>
        <p:spPr>
          <a:xfrm>
            <a:off x="347472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199" strike="noStrike">
                <a:solidFill>
                  <a:srgbClr val="7a7a7a"/>
                </a:solidFill>
                <a:latin typeface="Consolas"/>
                <a:ea typeface="Consolas"/>
              </a:rPr>
              <a:t>LINGUA_FRANCA // v1.0.0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449" name="Shape 26"/>
          <p:cNvSpPr/>
          <p:nvPr/>
        </p:nvSpPr>
        <p:spPr>
          <a:xfrm>
            <a:off x="8915400" y="114480"/>
            <a:ext cx="6372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0" name="Shape 27"/>
          <p:cNvSpPr/>
          <p:nvPr/>
        </p:nvSpPr>
        <p:spPr>
          <a:xfrm>
            <a:off x="0" y="4887360"/>
            <a:ext cx="9143640" cy="25560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1" name="Shape 28"/>
          <p:cNvSpPr/>
          <p:nvPr/>
        </p:nvSpPr>
        <p:spPr>
          <a:xfrm>
            <a:off x="0" y="487656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2" name="Text 29"/>
          <p:cNvSpPr/>
          <p:nvPr/>
        </p:nvSpPr>
        <p:spPr>
          <a:xfrm>
            <a:off x="274320" y="4887360"/>
            <a:ext cx="8595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299" strike="noStrike">
                <a:solidFill>
                  <a:srgbClr val="008824"/>
                </a:solidFill>
                <a:latin typeface="Consolas"/>
                <a:ea typeface="Consolas"/>
              </a:rPr>
              <a:t>STATUS: READY   ●   UPLINK STABLE   ●   RED_CAMBRIA @ 2026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3" name="Shape 30"/>
          <p:cNvSpPr/>
          <p:nvPr/>
        </p:nvSpPr>
        <p:spPr>
          <a:xfrm>
            <a:off x="164520" y="1645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4" name="Shape 31"/>
          <p:cNvSpPr/>
          <p:nvPr/>
        </p:nvSpPr>
        <p:spPr>
          <a:xfrm>
            <a:off x="164520" y="1645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5" name="Shape 32"/>
          <p:cNvSpPr/>
          <p:nvPr/>
        </p:nvSpPr>
        <p:spPr>
          <a:xfrm>
            <a:off x="8778240" y="1645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6" name="Shape 33"/>
          <p:cNvSpPr/>
          <p:nvPr/>
        </p:nvSpPr>
        <p:spPr>
          <a:xfrm>
            <a:off x="8956440" y="1645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7" name="Shape 34"/>
          <p:cNvSpPr/>
          <p:nvPr/>
        </p:nvSpPr>
        <p:spPr>
          <a:xfrm>
            <a:off x="164520" y="49561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8" name="Shape 35"/>
          <p:cNvSpPr/>
          <p:nvPr/>
        </p:nvSpPr>
        <p:spPr>
          <a:xfrm>
            <a:off x="164520" y="47779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9" name="Shape 36"/>
          <p:cNvSpPr/>
          <p:nvPr/>
        </p:nvSpPr>
        <p:spPr>
          <a:xfrm>
            <a:off x="8778240" y="49561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0" name="Shape 37"/>
          <p:cNvSpPr/>
          <p:nvPr/>
        </p:nvSpPr>
        <p:spPr>
          <a:xfrm>
            <a:off x="8956440" y="47779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Text 38"/>
          <p:cNvSpPr/>
          <p:nvPr/>
        </p:nvSpPr>
        <p:spPr>
          <a:xfrm>
            <a:off x="365760" y="5029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398" strike="noStrike">
                <a:solidFill>
                  <a:srgbClr val="00ff41"/>
                </a:solidFill>
                <a:latin typeface="Consolas"/>
                <a:ea typeface="Consolas"/>
              </a:rPr>
              <a:t>&gt; FEATURES.LIST()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62" name="Text 39"/>
          <p:cNvSpPr/>
          <p:nvPr/>
        </p:nvSpPr>
        <p:spPr>
          <a:xfrm>
            <a:off x="365760" y="75888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599" strike="noStrike">
                <a:solidFill>
                  <a:srgbClr val="00cc33"/>
                </a:solidFill>
                <a:latin typeface="Consolas"/>
                <a:ea typeface="Consolas"/>
              </a:rPr>
              <a:t>KEY FEATURES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463" name="Shape 40"/>
          <p:cNvSpPr/>
          <p:nvPr/>
        </p:nvSpPr>
        <p:spPr>
          <a:xfrm>
            <a:off x="365760" y="1417320"/>
            <a:ext cx="548280" cy="22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4" name="Shape 41"/>
          <p:cNvSpPr/>
          <p:nvPr/>
        </p:nvSpPr>
        <p:spPr>
          <a:xfrm>
            <a:off x="960120" y="1417320"/>
            <a:ext cx="7772040" cy="2268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5" name="Shape 42"/>
          <p:cNvSpPr/>
          <p:nvPr/>
        </p:nvSpPr>
        <p:spPr>
          <a:xfrm>
            <a:off x="406800" y="1737360"/>
            <a:ext cx="2697120" cy="1325520"/>
          </a:xfrm>
          <a:prstGeom prst="rect">
            <a:avLst/>
          </a:prstGeom>
          <a:solidFill>
            <a:srgbClr val="0b0f13"/>
          </a:solidFill>
          <a:ln w="9525">
            <a:solidFill>
              <a:srgbClr val="ffd7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6" name="Shape 43"/>
          <p:cNvSpPr/>
          <p:nvPr/>
        </p:nvSpPr>
        <p:spPr>
          <a:xfrm>
            <a:off x="406800" y="1737360"/>
            <a:ext cx="72720" cy="22680"/>
          </a:xfrm>
          <a:prstGeom prst="rect">
            <a:avLst/>
          </a:prstGeom>
          <a:solidFill>
            <a:srgbClr val="ffd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Shape 44"/>
          <p:cNvSpPr/>
          <p:nvPr/>
        </p:nvSpPr>
        <p:spPr>
          <a:xfrm>
            <a:off x="406800" y="1737360"/>
            <a:ext cx="22680" cy="72720"/>
          </a:xfrm>
          <a:prstGeom prst="rect">
            <a:avLst/>
          </a:prstGeom>
          <a:solidFill>
            <a:srgbClr val="ffd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8" name="Shape 45"/>
          <p:cNvSpPr/>
          <p:nvPr/>
        </p:nvSpPr>
        <p:spPr>
          <a:xfrm>
            <a:off x="543960" y="1865520"/>
            <a:ext cx="107424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ffd7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9" name="Text 46"/>
          <p:cNvSpPr/>
          <p:nvPr/>
        </p:nvSpPr>
        <p:spPr>
          <a:xfrm>
            <a:off x="543960" y="1865520"/>
            <a:ext cx="1074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ffd700"/>
                </a:solidFill>
                <a:latin typeface="Consolas"/>
                <a:ea typeface="Consolas"/>
              </a:rPr>
              <a:t>✦ </a:t>
            </a:r>
            <a:r>
              <a:rPr b="1" lang="en-US" sz="800" spc="97" strike="noStrike">
                <a:solidFill>
                  <a:srgbClr val="ffd700"/>
                </a:solidFill>
                <a:latin typeface="Consolas"/>
                <a:ea typeface="Consolas"/>
              </a:rPr>
              <a:t>LEGENDARY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70" name="Text 47"/>
          <p:cNvSpPr/>
          <p:nvPr/>
        </p:nvSpPr>
        <p:spPr>
          <a:xfrm>
            <a:off x="543960" y="214884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299" strike="noStrike">
                <a:solidFill>
                  <a:srgbClr val="ffd700"/>
                </a:solidFill>
                <a:latin typeface="Consolas"/>
                <a:ea typeface="Consolas"/>
              </a:rPr>
              <a:t>18 PHRASE TEMPLATES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71" name="Shape 48"/>
          <p:cNvSpPr/>
          <p:nvPr/>
        </p:nvSpPr>
        <p:spPr>
          <a:xfrm>
            <a:off x="543960" y="2487240"/>
            <a:ext cx="319680" cy="18000"/>
          </a:xfrm>
          <a:prstGeom prst="rect">
            <a:avLst/>
          </a:prstGeom>
          <a:solidFill>
            <a:srgbClr val="ffd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Text 49"/>
          <p:cNvSpPr/>
          <p:nvPr/>
        </p:nvSpPr>
        <p:spPr>
          <a:xfrm>
            <a:off x="543960" y="2578680"/>
            <a:ext cx="2422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From flirty hellos to formal thanks — real social scenarios.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73" name="Shape 50"/>
          <p:cNvSpPr/>
          <p:nvPr/>
        </p:nvSpPr>
        <p:spPr>
          <a:xfrm>
            <a:off x="3223440" y="1737360"/>
            <a:ext cx="2697120" cy="132552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4" name="Shape 51"/>
          <p:cNvSpPr/>
          <p:nvPr/>
        </p:nvSpPr>
        <p:spPr>
          <a:xfrm>
            <a:off x="3223440" y="1737360"/>
            <a:ext cx="72720" cy="2268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5" name="Shape 52"/>
          <p:cNvSpPr/>
          <p:nvPr/>
        </p:nvSpPr>
        <p:spPr>
          <a:xfrm>
            <a:off x="3223440" y="1737360"/>
            <a:ext cx="22680" cy="7272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6" name="Shape 53"/>
          <p:cNvSpPr/>
          <p:nvPr/>
        </p:nvSpPr>
        <p:spPr>
          <a:xfrm>
            <a:off x="3360600" y="1865520"/>
            <a:ext cx="68544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b06bd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7" name="Text 54"/>
          <p:cNvSpPr/>
          <p:nvPr/>
        </p:nvSpPr>
        <p:spPr>
          <a:xfrm>
            <a:off x="3360600" y="1865520"/>
            <a:ext cx="685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b06bd6"/>
                </a:solidFill>
                <a:latin typeface="Consolas"/>
                <a:ea typeface="Consolas"/>
              </a:rPr>
              <a:t>◆ </a:t>
            </a:r>
            <a:r>
              <a:rPr b="1" lang="en-US" sz="800" spc="97" strike="noStrike">
                <a:solidFill>
                  <a:srgbClr val="b06bd6"/>
                </a:solidFill>
                <a:latin typeface="Consolas"/>
                <a:ea typeface="Consolas"/>
              </a:rPr>
              <a:t>EPIC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78" name="Text 55"/>
          <p:cNvSpPr/>
          <p:nvPr/>
        </p:nvSpPr>
        <p:spPr>
          <a:xfrm>
            <a:off x="3360600" y="214884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299" strike="noStrike">
                <a:solidFill>
                  <a:srgbClr val="00ff41"/>
                </a:solidFill>
                <a:latin typeface="Consolas"/>
                <a:ea typeface="Consolas"/>
              </a:rPr>
              <a:t>LIVE TRANSLATION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79" name="Shape 56"/>
          <p:cNvSpPr/>
          <p:nvPr/>
        </p:nvSpPr>
        <p:spPr>
          <a:xfrm>
            <a:off x="3360600" y="2487240"/>
            <a:ext cx="319680" cy="1800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0" name="Text 57"/>
          <p:cNvSpPr/>
          <p:nvPr/>
        </p:nvSpPr>
        <p:spPr>
          <a:xfrm>
            <a:off x="3360600" y="2578680"/>
            <a:ext cx="2422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English + native script + romanization + phonetics.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81" name="Shape 58"/>
          <p:cNvSpPr/>
          <p:nvPr/>
        </p:nvSpPr>
        <p:spPr>
          <a:xfrm>
            <a:off x="6039720" y="1737360"/>
            <a:ext cx="2697120" cy="132552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2" name="Shape 59"/>
          <p:cNvSpPr/>
          <p:nvPr/>
        </p:nvSpPr>
        <p:spPr>
          <a:xfrm>
            <a:off x="6039720" y="1737360"/>
            <a:ext cx="72720" cy="2268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3" name="Shape 60"/>
          <p:cNvSpPr/>
          <p:nvPr/>
        </p:nvSpPr>
        <p:spPr>
          <a:xfrm>
            <a:off x="6039720" y="1737360"/>
            <a:ext cx="22680" cy="7272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4" name="Shape 61"/>
          <p:cNvSpPr/>
          <p:nvPr/>
        </p:nvSpPr>
        <p:spPr>
          <a:xfrm>
            <a:off x="6176880" y="1865520"/>
            <a:ext cx="68544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b06bd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5" name="Text 62"/>
          <p:cNvSpPr/>
          <p:nvPr/>
        </p:nvSpPr>
        <p:spPr>
          <a:xfrm>
            <a:off x="6176880" y="1865520"/>
            <a:ext cx="685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b06bd6"/>
                </a:solidFill>
                <a:latin typeface="Consolas"/>
                <a:ea typeface="Consolas"/>
              </a:rPr>
              <a:t>◆ </a:t>
            </a:r>
            <a:r>
              <a:rPr b="1" lang="en-US" sz="800" spc="97" strike="noStrike">
                <a:solidFill>
                  <a:srgbClr val="b06bd6"/>
                </a:solidFill>
                <a:latin typeface="Consolas"/>
                <a:ea typeface="Consolas"/>
              </a:rPr>
              <a:t>EPIC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86" name="Text 63"/>
          <p:cNvSpPr/>
          <p:nvPr/>
        </p:nvSpPr>
        <p:spPr>
          <a:xfrm>
            <a:off x="6176880" y="214884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299" strike="noStrike">
                <a:solidFill>
                  <a:srgbClr val="00ff41"/>
                </a:solidFill>
                <a:latin typeface="Consolas"/>
                <a:ea typeface="Consolas"/>
              </a:rPr>
              <a:t>AUTO-LISTEN MODE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87" name="Shape 64"/>
          <p:cNvSpPr/>
          <p:nvPr/>
        </p:nvSpPr>
        <p:spPr>
          <a:xfrm>
            <a:off x="6176880" y="2487240"/>
            <a:ext cx="319680" cy="1800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8" name="Text 65"/>
          <p:cNvSpPr/>
          <p:nvPr/>
        </p:nvSpPr>
        <p:spPr>
          <a:xfrm>
            <a:off x="6176880" y="2578680"/>
            <a:ext cx="2422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Mic opens automatically when entering speak mode.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89" name="Shape 66"/>
          <p:cNvSpPr/>
          <p:nvPr/>
        </p:nvSpPr>
        <p:spPr>
          <a:xfrm>
            <a:off x="406800" y="3209400"/>
            <a:ext cx="2697120" cy="132552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Shape 67"/>
          <p:cNvSpPr/>
          <p:nvPr/>
        </p:nvSpPr>
        <p:spPr>
          <a:xfrm>
            <a:off x="406800" y="3209400"/>
            <a:ext cx="72720" cy="22680"/>
          </a:xfrm>
          <a:prstGeom prst="rect">
            <a:avLst/>
          </a:prstGeom>
          <a:solidFill>
            <a:srgbClr val="3ca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1" name="Shape 68"/>
          <p:cNvSpPr/>
          <p:nvPr/>
        </p:nvSpPr>
        <p:spPr>
          <a:xfrm>
            <a:off x="406800" y="3209400"/>
            <a:ext cx="22680" cy="72720"/>
          </a:xfrm>
          <a:prstGeom prst="rect">
            <a:avLst/>
          </a:prstGeom>
          <a:solidFill>
            <a:srgbClr val="3ca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2" name="Shape 69"/>
          <p:cNvSpPr/>
          <p:nvPr/>
        </p:nvSpPr>
        <p:spPr>
          <a:xfrm>
            <a:off x="543960" y="3337560"/>
            <a:ext cx="68544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3ca0e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Text 70"/>
          <p:cNvSpPr/>
          <p:nvPr/>
        </p:nvSpPr>
        <p:spPr>
          <a:xfrm>
            <a:off x="543960" y="3337560"/>
            <a:ext cx="685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3ca0e0"/>
                </a:solidFill>
                <a:latin typeface="Consolas"/>
                <a:ea typeface="Consolas"/>
              </a:rPr>
              <a:t>◈ </a:t>
            </a:r>
            <a:r>
              <a:rPr b="1" lang="en-US" sz="800" spc="97" strike="noStrike">
                <a:solidFill>
                  <a:srgbClr val="3ca0e0"/>
                </a:solidFill>
                <a:latin typeface="Consolas"/>
                <a:ea typeface="Consolas"/>
              </a:rPr>
              <a:t>RARE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4" name="Text 71"/>
          <p:cNvSpPr/>
          <p:nvPr/>
        </p:nvSpPr>
        <p:spPr>
          <a:xfrm>
            <a:off x="543960" y="362088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299" strike="noStrike">
                <a:solidFill>
                  <a:srgbClr val="00ff41"/>
                </a:solidFill>
                <a:latin typeface="Consolas"/>
                <a:ea typeface="Consolas"/>
              </a:rPr>
              <a:t>SLOT-BASED PHRASES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95" name="Shape 72"/>
          <p:cNvSpPr/>
          <p:nvPr/>
        </p:nvSpPr>
        <p:spPr>
          <a:xfrm>
            <a:off x="543960" y="3959280"/>
            <a:ext cx="319680" cy="18000"/>
          </a:xfrm>
          <a:prstGeom prst="rect">
            <a:avLst/>
          </a:prstGeom>
          <a:solidFill>
            <a:srgbClr val="3ca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6" name="Text 73"/>
          <p:cNvSpPr/>
          <p:nvPr/>
        </p:nvSpPr>
        <p:spPr>
          <a:xfrm>
            <a:off x="543960" y="4050720"/>
            <a:ext cx="2422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Dynamic vocab fills: [DRINKS], [FOOD], [GREETING].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97" name="Shape 74"/>
          <p:cNvSpPr/>
          <p:nvPr/>
        </p:nvSpPr>
        <p:spPr>
          <a:xfrm>
            <a:off x="3223440" y="3209400"/>
            <a:ext cx="2697120" cy="132552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8" name="Shape 75"/>
          <p:cNvSpPr/>
          <p:nvPr/>
        </p:nvSpPr>
        <p:spPr>
          <a:xfrm>
            <a:off x="3223440" y="3209400"/>
            <a:ext cx="72720" cy="22680"/>
          </a:xfrm>
          <a:prstGeom prst="rect">
            <a:avLst/>
          </a:prstGeom>
          <a:solidFill>
            <a:srgbClr val="3ca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9" name="Shape 76"/>
          <p:cNvSpPr/>
          <p:nvPr/>
        </p:nvSpPr>
        <p:spPr>
          <a:xfrm>
            <a:off x="3223440" y="3209400"/>
            <a:ext cx="22680" cy="72720"/>
          </a:xfrm>
          <a:prstGeom prst="rect">
            <a:avLst/>
          </a:prstGeom>
          <a:solidFill>
            <a:srgbClr val="3ca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Shape 77"/>
          <p:cNvSpPr/>
          <p:nvPr/>
        </p:nvSpPr>
        <p:spPr>
          <a:xfrm>
            <a:off x="3360600" y="3337560"/>
            <a:ext cx="68544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3ca0e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Text 78"/>
          <p:cNvSpPr/>
          <p:nvPr/>
        </p:nvSpPr>
        <p:spPr>
          <a:xfrm>
            <a:off x="3360600" y="3337560"/>
            <a:ext cx="685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3ca0e0"/>
                </a:solidFill>
                <a:latin typeface="Consolas"/>
                <a:ea typeface="Consolas"/>
              </a:rPr>
              <a:t>◈ </a:t>
            </a:r>
            <a:r>
              <a:rPr b="1" lang="en-US" sz="800" spc="97" strike="noStrike">
                <a:solidFill>
                  <a:srgbClr val="3ca0e0"/>
                </a:solidFill>
                <a:latin typeface="Consolas"/>
                <a:ea typeface="Consolas"/>
              </a:rPr>
              <a:t>RARE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2" name="Text 79"/>
          <p:cNvSpPr/>
          <p:nvPr/>
        </p:nvSpPr>
        <p:spPr>
          <a:xfrm>
            <a:off x="3360600" y="362088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299" strike="noStrike">
                <a:solidFill>
                  <a:srgbClr val="00ff41"/>
                </a:solidFill>
                <a:latin typeface="Consolas"/>
                <a:ea typeface="Consolas"/>
              </a:rPr>
              <a:t>TUMBLER NAVIGATION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03" name="Shape 80"/>
          <p:cNvSpPr/>
          <p:nvPr/>
        </p:nvSpPr>
        <p:spPr>
          <a:xfrm>
            <a:off x="3360600" y="3959280"/>
            <a:ext cx="319680" cy="18000"/>
          </a:xfrm>
          <a:prstGeom prst="rect">
            <a:avLst/>
          </a:prstGeom>
          <a:solidFill>
            <a:srgbClr val="3ca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Text 81"/>
          <p:cNvSpPr/>
          <p:nvPr/>
        </p:nvSpPr>
        <p:spPr>
          <a:xfrm>
            <a:off x="3360600" y="4050720"/>
            <a:ext cx="2422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Scroll through languages and scenarios on the glasses.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05" name="Shape 82"/>
          <p:cNvSpPr/>
          <p:nvPr/>
        </p:nvSpPr>
        <p:spPr>
          <a:xfrm>
            <a:off x="6039720" y="3209400"/>
            <a:ext cx="2697120" cy="1325520"/>
          </a:xfrm>
          <a:prstGeom prst="rect">
            <a:avLst/>
          </a:prstGeom>
          <a:solidFill>
            <a:srgbClr val="0b0f13"/>
          </a:solidFill>
          <a:ln w="9525">
            <a:solidFill>
              <a:srgbClr val="ffd7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6" name="Shape 83"/>
          <p:cNvSpPr/>
          <p:nvPr/>
        </p:nvSpPr>
        <p:spPr>
          <a:xfrm>
            <a:off x="6039720" y="3209400"/>
            <a:ext cx="72720" cy="22680"/>
          </a:xfrm>
          <a:prstGeom prst="rect">
            <a:avLst/>
          </a:prstGeom>
          <a:solidFill>
            <a:srgbClr val="ffd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7" name="Shape 84"/>
          <p:cNvSpPr/>
          <p:nvPr/>
        </p:nvSpPr>
        <p:spPr>
          <a:xfrm>
            <a:off x="6039720" y="3209400"/>
            <a:ext cx="22680" cy="72720"/>
          </a:xfrm>
          <a:prstGeom prst="rect">
            <a:avLst/>
          </a:prstGeom>
          <a:solidFill>
            <a:srgbClr val="ffd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8" name="Shape 85"/>
          <p:cNvSpPr/>
          <p:nvPr/>
        </p:nvSpPr>
        <p:spPr>
          <a:xfrm>
            <a:off x="6176880" y="3337560"/>
            <a:ext cx="107424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ffd7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Text 86"/>
          <p:cNvSpPr/>
          <p:nvPr/>
        </p:nvSpPr>
        <p:spPr>
          <a:xfrm>
            <a:off x="6176880" y="3337560"/>
            <a:ext cx="1074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ffd700"/>
                </a:solidFill>
                <a:latin typeface="Consolas"/>
                <a:ea typeface="Consolas"/>
              </a:rPr>
              <a:t>✦ </a:t>
            </a:r>
            <a:r>
              <a:rPr b="1" lang="en-US" sz="800" spc="97" strike="noStrike">
                <a:solidFill>
                  <a:srgbClr val="ffd700"/>
                </a:solidFill>
                <a:latin typeface="Consolas"/>
                <a:ea typeface="Consolas"/>
              </a:rPr>
              <a:t>LEGENDARY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10" name="Text 87"/>
          <p:cNvSpPr/>
          <p:nvPr/>
        </p:nvSpPr>
        <p:spPr>
          <a:xfrm>
            <a:off x="6176880" y="3620880"/>
            <a:ext cx="2422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299" strike="noStrike">
                <a:solidFill>
                  <a:srgbClr val="ffd700"/>
                </a:solidFill>
                <a:latin typeface="Consolas"/>
                <a:ea typeface="Consolas"/>
              </a:rPr>
              <a:t>INSTANT PUSH TO G2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11" name="Shape 88"/>
          <p:cNvSpPr/>
          <p:nvPr/>
        </p:nvSpPr>
        <p:spPr>
          <a:xfrm>
            <a:off x="6176880" y="3959280"/>
            <a:ext cx="319680" cy="18000"/>
          </a:xfrm>
          <a:prstGeom prst="rect">
            <a:avLst/>
          </a:prstGeom>
          <a:solidFill>
            <a:srgbClr val="ffd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2" name="Text 89"/>
          <p:cNvSpPr/>
          <p:nvPr/>
        </p:nvSpPr>
        <p:spPr>
          <a:xfrm>
            <a:off x="6176880" y="4050720"/>
            <a:ext cx="2422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One tap sends any phrase to the glasses HUD.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13" name="Text 90"/>
          <p:cNvSpPr/>
          <p:nvPr/>
        </p:nvSpPr>
        <p:spPr>
          <a:xfrm>
            <a:off x="365760" y="455364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199" strike="noStrike">
                <a:solidFill>
                  <a:srgbClr val="7a7a7a"/>
                </a:solidFill>
                <a:latin typeface="Consolas"/>
                <a:ea typeface="Consolas"/>
              </a:rPr>
              <a:t>RARITY: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514" name="Text 91"/>
          <p:cNvSpPr/>
          <p:nvPr/>
        </p:nvSpPr>
        <p:spPr>
          <a:xfrm>
            <a:off x="1005840" y="455364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199" strike="noStrike">
                <a:solidFill>
                  <a:srgbClr val="008824"/>
                </a:solidFill>
                <a:latin typeface="Consolas"/>
                <a:ea typeface="Consolas"/>
              </a:rPr>
              <a:t>✦ </a:t>
            </a:r>
            <a:r>
              <a:rPr b="1" lang="en-US" sz="900" spc="199" strike="noStrike">
                <a:solidFill>
                  <a:srgbClr val="008824"/>
                </a:solidFill>
                <a:latin typeface="Consolas"/>
                <a:ea typeface="Consolas"/>
              </a:rPr>
              <a:t>LEGENDARY    ◆ EPIC    ◈ RARE    ○ UNCOMMON    · COMMON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Shape 0"/>
          <p:cNvSpPr/>
          <p:nvPr/>
        </p:nvSpPr>
        <p:spPr>
          <a:xfrm>
            <a:off x="0" y="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6" name="Shape 1"/>
          <p:cNvSpPr/>
          <p:nvPr/>
        </p:nvSpPr>
        <p:spPr>
          <a:xfrm>
            <a:off x="0" y="233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7" name="Shape 2"/>
          <p:cNvSpPr/>
          <p:nvPr/>
        </p:nvSpPr>
        <p:spPr>
          <a:xfrm>
            <a:off x="0" y="467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8" name="Shape 3"/>
          <p:cNvSpPr/>
          <p:nvPr/>
        </p:nvSpPr>
        <p:spPr>
          <a:xfrm>
            <a:off x="0" y="701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9" name="Shape 4"/>
          <p:cNvSpPr/>
          <p:nvPr/>
        </p:nvSpPr>
        <p:spPr>
          <a:xfrm>
            <a:off x="0" y="935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0" name="Shape 5"/>
          <p:cNvSpPr/>
          <p:nvPr/>
        </p:nvSpPr>
        <p:spPr>
          <a:xfrm>
            <a:off x="0" y="1168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1" name="Shape 6"/>
          <p:cNvSpPr/>
          <p:nvPr/>
        </p:nvSpPr>
        <p:spPr>
          <a:xfrm>
            <a:off x="0" y="1402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2" name="Shape 7"/>
          <p:cNvSpPr/>
          <p:nvPr/>
        </p:nvSpPr>
        <p:spPr>
          <a:xfrm>
            <a:off x="0" y="16365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3" name="Shape 8"/>
          <p:cNvSpPr/>
          <p:nvPr/>
        </p:nvSpPr>
        <p:spPr>
          <a:xfrm>
            <a:off x="0" y="1870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4" name="Shape 9"/>
          <p:cNvSpPr/>
          <p:nvPr/>
        </p:nvSpPr>
        <p:spPr>
          <a:xfrm>
            <a:off x="0" y="2104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Shape 10"/>
          <p:cNvSpPr/>
          <p:nvPr/>
        </p:nvSpPr>
        <p:spPr>
          <a:xfrm>
            <a:off x="0" y="2337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6" name="Shape 11"/>
          <p:cNvSpPr/>
          <p:nvPr/>
        </p:nvSpPr>
        <p:spPr>
          <a:xfrm>
            <a:off x="0" y="2571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7" name="Shape 12"/>
          <p:cNvSpPr/>
          <p:nvPr/>
        </p:nvSpPr>
        <p:spPr>
          <a:xfrm>
            <a:off x="0" y="2805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8" name="Shape 13"/>
          <p:cNvSpPr/>
          <p:nvPr/>
        </p:nvSpPr>
        <p:spPr>
          <a:xfrm>
            <a:off x="0" y="3039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9" name="Shape 14"/>
          <p:cNvSpPr/>
          <p:nvPr/>
        </p:nvSpPr>
        <p:spPr>
          <a:xfrm>
            <a:off x="0" y="32731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Shape 15"/>
          <p:cNvSpPr/>
          <p:nvPr/>
        </p:nvSpPr>
        <p:spPr>
          <a:xfrm>
            <a:off x="0" y="3506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1" name="Shape 16"/>
          <p:cNvSpPr/>
          <p:nvPr/>
        </p:nvSpPr>
        <p:spPr>
          <a:xfrm>
            <a:off x="0" y="3740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2" name="Shape 17"/>
          <p:cNvSpPr/>
          <p:nvPr/>
        </p:nvSpPr>
        <p:spPr>
          <a:xfrm>
            <a:off x="0" y="3974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3" name="Shape 18"/>
          <p:cNvSpPr/>
          <p:nvPr/>
        </p:nvSpPr>
        <p:spPr>
          <a:xfrm>
            <a:off x="0" y="4208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4" name="Shape 19"/>
          <p:cNvSpPr/>
          <p:nvPr/>
        </p:nvSpPr>
        <p:spPr>
          <a:xfrm>
            <a:off x="0" y="4442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5" name="Shape 20"/>
          <p:cNvSpPr/>
          <p:nvPr/>
        </p:nvSpPr>
        <p:spPr>
          <a:xfrm>
            <a:off x="0" y="4676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6" name="Shape 21"/>
          <p:cNvSpPr/>
          <p:nvPr/>
        </p:nvSpPr>
        <p:spPr>
          <a:xfrm>
            <a:off x="0" y="49096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7" name="Shape 22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8" name="Shape 23"/>
          <p:cNvSpPr/>
          <p:nvPr/>
        </p:nvSpPr>
        <p:spPr>
          <a:xfrm>
            <a:off x="0" y="29268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9" name="Text 24"/>
          <p:cNvSpPr/>
          <p:nvPr/>
        </p:nvSpPr>
        <p:spPr>
          <a:xfrm>
            <a:off x="20124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▸ </a:t>
            </a: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SECTION 06 / 08  //  LANG.CATALOGUE()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540" name="Text 25"/>
          <p:cNvSpPr/>
          <p:nvPr/>
        </p:nvSpPr>
        <p:spPr>
          <a:xfrm>
            <a:off x="347472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199" strike="noStrike">
                <a:solidFill>
                  <a:srgbClr val="7a7a7a"/>
                </a:solidFill>
                <a:latin typeface="Consolas"/>
                <a:ea typeface="Consolas"/>
              </a:rPr>
              <a:t>LINGUA_FRANCA // v1.0.0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541" name="Shape 26"/>
          <p:cNvSpPr/>
          <p:nvPr/>
        </p:nvSpPr>
        <p:spPr>
          <a:xfrm>
            <a:off x="8915400" y="114480"/>
            <a:ext cx="6372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2" name="Shape 27"/>
          <p:cNvSpPr/>
          <p:nvPr/>
        </p:nvSpPr>
        <p:spPr>
          <a:xfrm>
            <a:off x="0" y="4887360"/>
            <a:ext cx="9143640" cy="25560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3" name="Shape 28"/>
          <p:cNvSpPr/>
          <p:nvPr/>
        </p:nvSpPr>
        <p:spPr>
          <a:xfrm>
            <a:off x="0" y="487656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4" name="Text 29"/>
          <p:cNvSpPr/>
          <p:nvPr/>
        </p:nvSpPr>
        <p:spPr>
          <a:xfrm>
            <a:off x="274320" y="4887360"/>
            <a:ext cx="8595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299" strike="noStrike">
                <a:solidFill>
                  <a:srgbClr val="008824"/>
                </a:solidFill>
                <a:latin typeface="Consolas"/>
                <a:ea typeface="Consolas"/>
              </a:rPr>
              <a:t>STATUS: READY   ●   UPLINK STABLE   ●   RED_CAMBRIA @ 2026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45" name="Shape 30"/>
          <p:cNvSpPr/>
          <p:nvPr/>
        </p:nvSpPr>
        <p:spPr>
          <a:xfrm>
            <a:off x="164520" y="1645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6" name="Shape 31"/>
          <p:cNvSpPr/>
          <p:nvPr/>
        </p:nvSpPr>
        <p:spPr>
          <a:xfrm>
            <a:off x="164520" y="1645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7" name="Shape 32"/>
          <p:cNvSpPr/>
          <p:nvPr/>
        </p:nvSpPr>
        <p:spPr>
          <a:xfrm>
            <a:off x="8778240" y="1645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Shape 33"/>
          <p:cNvSpPr/>
          <p:nvPr/>
        </p:nvSpPr>
        <p:spPr>
          <a:xfrm>
            <a:off x="8956440" y="1645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9" name="Shape 34"/>
          <p:cNvSpPr/>
          <p:nvPr/>
        </p:nvSpPr>
        <p:spPr>
          <a:xfrm>
            <a:off x="164520" y="49561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0" name="Shape 35"/>
          <p:cNvSpPr/>
          <p:nvPr/>
        </p:nvSpPr>
        <p:spPr>
          <a:xfrm>
            <a:off x="164520" y="47779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1" name="Shape 36"/>
          <p:cNvSpPr/>
          <p:nvPr/>
        </p:nvSpPr>
        <p:spPr>
          <a:xfrm>
            <a:off x="8778240" y="49561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2" name="Shape 37"/>
          <p:cNvSpPr/>
          <p:nvPr/>
        </p:nvSpPr>
        <p:spPr>
          <a:xfrm>
            <a:off x="8956440" y="47779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Text 38"/>
          <p:cNvSpPr/>
          <p:nvPr/>
        </p:nvSpPr>
        <p:spPr>
          <a:xfrm>
            <a:off x="365760" y="5029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398" strike="noStrike">
                <a:solidFill>
                  <a:srgbClr val="00ff41"/>
                </a:solidFill>
                <a:latin typeface="Consolas"/>
                <a:ea typeface="Consolas"/>
              </a:rPr>
              <a:t>&gt; LANG.CATALOGUE()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54" name="Text 39"/>
          <p:cNvSpPr/>
          <p:nvPr/>
        </p:nvSpPr>
        <p:spPr>
          <a:xfrm>
            <a:off x="365760" y="75888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599" strike="noStrike">
                <a:solidFill>
                  <a:srgbClr val="00cc33"/>
                </a:solidFill>
                <a:latin typeface="Consolas"/>
                <a:ea typeface="Consolas"/>
              </a:rPr>
              <a:t>21 LANGUAGES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555" name="Shape 40"/>
          <p:cNvSpPr/>
          <p:nvPr/>
        </p:nvSpPr>
        <p:spPr>
          <a:xfrm>
            <a:off x="365760" y="1417320"/>
            <a:ext cx="548280" cy="22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6" name="Shape 41"/>
          <p:cNvSpPr/>
          <p:nvPr/>
        </p:nvSpPr>
        <p:spPr>
          <a:xfrm>
            <a:off x="960120" y="1417320"/>
            <a:ext cx="7772040" cy="2268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7" name="Text 42"/>
          <p:cNvSpPr/>
          <p:nvPr/>
        </p:nvSpPr>
        <p:spPr>
          <a:xfrm>
            <a:off x="365760" y="1536120"/>
            <a:ext cx="8412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97" strike="noStrike">
                <a:solidFill>
                  <a:srgbClr val="c8c8c8"/>
                </a:solidFill>
                <a:latin typeface="Consolas"/>
                <a:ea typeface="Consolas"/>
              </a:rPr>
              <a:t>Native script · romanization · phonetic pronunciation.   [ 8 languages flagged for romanization assist ]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58" name="Shape 43"/>
          <p:cNvSpPr/>
          <p:nvPr/>
        </p:nvSpPr>
        <p:spPr>
          <a:xfrm>
            <a:off x="255960" y="184716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ffb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9" name="Shape 44"/>
          <p:cNvSpPr/>
          <p:nvPr/>
        </p:nvSpPr>
        <p:spPr>
          <a:xfrm>
            <a:off x="255960" y="1847160"/>
            <a:ext cx="63720" cy="1800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0" name="Shape 45"/>
          <p:cNvSpPr/>
          <p:nvPr/>
        </p:nvSpPr>
        <p:spPr>
          <a:xfrm>
            <a:off x="255960" y="1847160"/>
            <a:ext cx="18000" cy="6372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1" name="Text 46"/>
          <p:cNvSpPr/>
          <p:nvPr/>
        </p:nvSpPr>
        <p:spPr>
          <a:xfrm>
            <a:off x="347400" y="190188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ffb000"/>
                </a:solidFill>
                <a:latin typeface="Consolas"/>
                <a:ea typeface="Consolas"/>
              </a:rPr>
              <a:t>JPN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62" name="Text 47"/>
          <p:cNvSpPr/>
          <p:nvPr/>
        </p:nvSpPr>
        <p:spPr>
          <a:xfrm>
            <a:off x="347400" y="212148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Japanese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563" name="Text 48"/>
          <p:cNvSpPr/>
          <p:nvPr/>
        </p:nvSpPr>
        <p:spPr>
          <a:xfrm>
            <a:off x="347400" y="230436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zh-CN" sz="1000" spc="-1" strike="noStrike">
                <a:solidFill>
                  <a:srgbClr val="c8c8c8"/>
                </a:solidFill>
                <a:latin typeface="Consolas"/>
                <a:ea typeface="Consolas"/>
              </a:rPr>
              <a:t>日本語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64" name="Shape 49"/>
          <p:cNvSpPr/>
          <p:nvPr/>
        </p:nvSpPr>
        <p:spPr>
          <a:xfrm>
            <a:off x="1499760" y="184716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ffb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5" name="Shape 50"/>
          <p:cNvSpPr/>
          <p:nvPr/>
        </p:nvSpPr>
        <p:spPr>
          <a:xfrm>
            <a:off x="1499760" y="1847160"/>
            <a:ext cx="63720" cy="1800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6" name="Shape 51"/>
          <p:cNvSpPr/>
          <p:nvPr/>
        </p:nvSpPr>
        <p:spPr>
          <a:xfrm>
            <a:off x="1499760" y="1847160"/>
            <a:ext cx="18000" cy="6372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Text 52"/>
          <p:cNvSpPr/>
          <p:nvPr/>
        </p:nvSpPr>
        <p:spPr>
          <a:xfrm>
            <a:off x="1591200" y="190188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ffb000"/>
                </a:solidFill>
                <a:latin typeface="Consolas"/>
                <a:ea typeface="Consolas"/>
              </a:rPr>
              <a:t>CMN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68" name="Text 53"/>
          <p:cNvSpPr/>
          <p:nvPr/>
        </p:nvSpPr>
        <p:spPr>
          <a:xfrm>
            <a:off x="1591200" y="212148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Chinese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569" name="Text 54"/>
          <p:cNvSpPr/>
          <p:nvPr/>
        </p:nvSpPr>
        <p:spPr>
          <a:xfrm>
            <a:off x="1591200" y="230436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zh-CN" sz="1000" spc="-1" strike="noStrike">
                <a:solidFill>
                  <a:srgbClr val="c8c8c8"/>
                </a:solidFill>
                <a:latin typeface="Consolas"/>
                <a:ea typeface="Consolas"/>
              </a:rPr>
              <a:t>中文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70" name="Shape 55"/>
          <p:cNvSpPr/>
          <p:nvPr/>
        </p:nvSpPr>
        <p:spPr>
          <a:xfrm>
            <a:off x="2743200" y="184716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ffb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1" name="Shape 56"/>
          <p:cNvSpPr/>
          <p:nvPr/>
        </p:nvSpPr>
        <p:spPr>
          <a:xfrm>
            <a:off x="2743200" y="1847160"/>
            <a:ext cx="63720" cy="1800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Shape 57"/>
          <p:cNvSpPr/>
          <p:nvPr/>
        </p:nvSpPr>
        <p:spPr>
          <a:xfrm>
            <a:off x="2743200" y="1847160"/>
            <a:ext cx="18000" cy="6372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3" name="Text 58"/>
          <p:cNvSpPr/>
          <p:nvPr/>
        </p:nvSpPr>
        <p:spPr>
          <a:xfrm>
            <a:off x="2834640" y="190188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ffb000"/>
                </a:solidFill>
                <a:latin typeface="Consolas"/>
                <a:ea typeface="Consolas"/>
              </a:rPr>
              <a:t>KOR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74" name="Text 59"/>
          <p:cNvSpPr/>
          <p:nvPr/>
        </p:nvSpPr>
        <p:spPr>
          <a:xfrm>
            <a:off x="2834640" y="212148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Korean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575" name="Text 60"/>
          <p:cNvSpPr/>
          <p:nvPr/>
        </p:nvSpPr>
        <p:spPr>
          <a:xfrm>
            <a:off x="2834640" y="230436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zh-CN" sz="1000" spc="-1" strike="noStrike">
                <a:solidFill>
                  <a:srgbClr val="c8c8c8"/>
                </a:solidFill>
                <a:latin typeface="Consolas"/>
                <a:ea typeface="Consolas"/>
              </a:rPr>
              <a:t>한국어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76" name="Shape 61"/>
          <p:cNvSpPr/>
          <p:nvPr/>
        </p:nvSpPr>
        <p:spPr>
          <a:xfrm>
            <a:off x="3986640" y="184716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ffb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7" name="Shape 62"/>
          <p:cNvSpPr/>
          <p:nvPr/>
        </p:nvSpPr>
        <p:spPr>
          <a:xfrm>
            <a:off x="3986640" y="1847160"/>
            <a:ext cx="63720" cy="1800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8" name="Shape 63"/>
          <p:cNvSpPr/>
          <p:nvPr/>
        </p:nvSpPr>
        <p:spPr>
          <a:xfrm>
            <a:off x="3986640" y="1847160"/>
            <a:ext cx="18000" cy="6372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9" name="Text 64"/>
          <p:cNvSpPr/>
          <p:nvPr/>
        </p:nvSpPr>
        <p:spPr>
          <a:xfrm>
            <a:off x="4078080" y="190188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ffb000"/>
                </a:solidFill>
                <a:latin typeface="Consolas"/>
                <a:ea typeface="Consolas"/>
              </a:rPr>
              <a:t>ARA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80" name="Text 65"/>
          <p:cNvSpPr/>
          <p:nvPr/>
        </p:nvSpPr>
        <p:spPr>
          <a:xfrm>
            <a:off x="4078080" y="212148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Arabic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581" name="Text 66"/>
          <p:cNvSpPr/>
          <p:nvPr/>
        </p:nvSpPr>
        <p:spPr>
          <a:xfrm>
            <a:off x="4078080" y="230436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i-IN" sz="1000" spc="-1" strike="noStrike">
                <a:solidFill>
                  <a:srgbClr val="c8c8c8"/>
                </a:solidFill>
                <a:latin typeface="Consolas"/>
                <a:cs typeface="Consolas"/>
              </a:rPr>
              <a:t>العربية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82" name="Shape 67"/>
          <p:cNvSpPr/>
          <p:nvPr/>
        </p:nvSpPr>
        <p:spPr>
          <a:xfrm>
            <a:off x="5230440" y="184716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ffb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Shape 68"/>
          <p:cNvSpPr/>
          <p:nvPr/>
        </p:nvSpPr>
        <p:spPr>
          <a:xfrm>
            <a:off x="5230440" y="1847160"/>
            <a:ext cx="63720" cy="1800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4" name="Shape 69"/>
          <p:cNvSpPr/>
          <p:nvPr/>
        </p:nvSpPr>
        <p:spPr>
          <a:xfrm>
            <a:off x="5230440" y="1847160"/>
            <a:ext cx="18000" cy="6372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5" name="Text 70"/>
          <p:cNvSpPr/>
          <p:nvPr/>
        </p:nvSpPr>
        <p:spPr>
          <a:xfrm>
            <a:off x="5321880" y="190188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ffb000"/>
                </a:solidFill>
                <a:latin typeface="Consolas"/>
                <a:ea typeface="Consolas"/>
              </a:rPr>
              <a:t>HIN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86" name="Text 71"/>
          <p:cNvSpPr/>
          <p:nvPr/>
        </p:nvSpPr>
        <p:spPr>
          <a:xfrm>
            <a:off x="5321880" y="212148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Hindi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587" name="Text 72"/>
          <p:cNvSpPr/>
          <p:nvPr/>
        </p:nvSpPr>
        <p:spPr>
          <a:xfrm>
            <a:off x="5321880" y="230436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i-IN" sz="1000" spc="-1" strike="noStrike">
                <a:solidFill>
                  <a:srgbClr val="c8c8c8"/>
                </a:solidFill>
                <a:latin typeface="Consolas"/>
                <a:cs typeface="Consolas"/>
              </a:rPr>
              <a:t>हिन्दी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88" name="Shape 73"/>
          <p:cNvSpPr/>
          <p:nvPr/>
        </p:nvSpPr>
        <p:spPr>
          <a:xfrm>
            <a:off x="6473880" y="184716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ffb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9" name="Shape 74"/>
          <p:cNvSpPr/>
          <p:nvPr/>
        </p:nvSpPr>
        <p:spPr>
          <a:xfrm>
            <a:off x="6473880" y="1847160"/>
            <a:ext cx="63720" cy="1800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0" name="Shape 75"/>
          <p:cNvSpPr/>
          <p:nvPr/>
        </p:nvSpPr>
        <p:spPr>
          <a:xfrm>
            <a:off x="6473880" y="1847160"/>
            <a:ext cx="18000" cy="6372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1" name="Text 76"/>
          <p:cNvSpPr/>
          <p:nvPr/>
        </p:nvSpPr>
        <p:spPr>
          <a:xfrm>
            <a:off x="6565320" y="190188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ffb000"/>
                </a:solidFill>
                <a:latin typeface="Consolas"/>
                <a:ea typeface="Consolas"/>
              </a:rPr>
              <a:t>RUS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92" name="Text 77"/>
          <p:cNvSpPr/>
          <p:nvPr/>
        </p:nvSpPr>
        <p:spPr>
          <a:xfrm>
            <a:off x="6565320" y="212148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Russian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593" name="Text 78"/>
          <p:cNvSpPr/>
          <p:nvPr/>
        </p:nvSpPr>
        <p:spPr>
          <a:xfrm>
            <a:off x="6565320" y="230436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Русский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94" name="Shape 79"/>
          <p:cNvSpPr/>
          <p:nvPr/>
        </p:nvSpPr>
        <p:spPr>
          <a:xfrm>
            <a:off x="7717680" y="184716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ffb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5" name="Shape 80"/>
          <p:cNvSpPr/>
          <p:nvPr/>
        </p:nvSpPr>
        <p:spPr>
          <a:xfrm>
            <a:off x="7717680" y="1847160"/>
            <a:ext cx="63720" cy="1800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6" name="Shape 81"/>
          <p:cNvSpPr/>
          <p:nvPr/>
        </p:nvSpPr>
        <p:spPr>
          <a:xfrm>
            <a:off x="7717680" y="1847160"/>
            <a:ext cx="18000" cy="6372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7" name="Text 82"/>
          <p:cNvSpPr/>
          <p:nvPr/>
        </p:nvSpPr>
        <p:spPr>
          <a:xfrm>
            <a:off x="7809120" y="190188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ffb000"/>
                </a:solidFill>
                <a:latin typeface="Consolas"/>
                <a:ea typeface="Consolas"/>
              </a:rPr>
              <a:t>THA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98" name="Text 83"/>
          <p:cNvSpPr/>
          <p:nvPr/>
        </p:nvSpPr>
        <p:spPr>
          <a:xfrm>
            <a:off x="7809120" y="212148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Thai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599" name="Text 84"/>
          <p:cNvSpPr/>
          <p:nvPr/>
        </p:nvSpPr>
        <p:spPr>
          <a:xfrm>
            <a:off x="7809120" y="230436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hi-IN" sz="1000" spc="-1" strike="noStrike">
                <a:solidFill>
                  <a:srgbClr val="c8c8c8"/>
                </a:solidFill>
                <a:latin typeface="Consolas"/>
                <a:cs typeface="Consolas"/>
              </a:rPr>
              <a:t>ภาษาไทย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00" name="Shape 85"/>
          <p:cNvSpPr/>
          <p:nvPr/>
        </p:nvSpPr>
        <p:spPr>
          <a:xfrm>
            <a:off x="255960" y="269748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1" name="Shape 86"/>
          <p:cNvSpPr/>
          <p:nvPr/>
        </p:nvSpPr>
        <p:spPr>
          <a:xfrm>
            <a:off x="255960" y="2697480"/>
            <a:ext cx="63720" cy="1800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2" name="Shape 87"/>
          <p:cNvSpPr/>
          <p:nvPr/>
        </p:nvSpPr>
        <p:spPr>
          <a:xfrm>
            <a:off x="255960" y="2697480"/>
            <a:ext cx="1800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3" name="Text 88"/>
          <p:cNvSpPr/>
          <p:nvPr/>
        </p:nvSpPr>
        <p:spPr>
          <a:xfrm>
            <a:off x="347400" y="275220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00ff41"/>
                </a:solidFill>
                <a:latin typeface="Consolas"/>
                <a:ea typeface="Consolas"/>
              </a:rPr>
              <a:t>SPA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04" name="Text 89"/>
          <p:cNvSpPr/>
          <p:nvPr/>
        </p:nvSpPr>
        <p:spPr>
          <a:xfrm>
            <a:off x="347400" y="297180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Spanish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05" name="Text 90"/>
          <p:cNvSpPr/>
          <p:nvPr/>
        </p:nvSpPr>
        <p:spPr>
          <a:xfrm>
            <a:off x="347400" y="315468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Español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06" name="Shape 91"/>
          <p:cNvSpPr/>
          <p:nvPr/>
        </p:nvSpPr>
        <p:spPr>
          <a:xfrm>
            <a:off x="1499760" y="269748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7" name="Shape 92"/>
          <p:cNvSpPr/>
          <p:nvPr/>
        </p:nvSpPr>
        <p:spPr>
          <a:xfrm>
            <a:off x="1499760" y="2697480"/>
            <a:ext cx="63720" cy="1800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8" name="Shape 93"/>
          <p:cNvSpPr/>
          <p:nvPr/>
        </p:nvSpPr>
        <p:spPr>
          <a:xfrm>
            <a:off x="1499760" y="2697480"/>
            <a:ext cx="1800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9" name="Text 94"/>
          <p:cNvSpPr/>
          <p:nvPr/>
        </p:nvSpPr>
        <p:spPr>
          <a:xfrm>
            <a:off x="1591200" y="275220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00ff41"/>
                </a:solidFill>
                <a:latin typeface="Consolas"/>
                <a:ea typeface="Consolas"/>
              </a:rPr>
              <a:t>FRA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10" name="Text 95"/>
          <p:cNvSpPr/>
          <p:nvPr/>
        </p:nvSpPr>
        <p:spPr>
          <a:xfrm>
            <a:off x="1591200" y="297180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French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11" name="Text 96"/>
          <p:cNvSpPr/>
          <p:nvPr/>
        </p:nvSpPr>
        <p:spPr>
          <a:xfrm>
            <a:off x="1591200" y="315468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Français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12" name="Shape 97"/>
          <p:cNvSpPr/>
          <p:nvPr/>
        </p:nvSpPr>
        <p:spPr>
          <a:xfrm>
            <a:off x="2743200" y="269748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3" name="Shape 98"/>
          <p:cNvSpPr/>
          <p:nvPr/>
        </p:nvSpPr>
        <p:spPr>
          <a:xfrm>
            <a:off x="2743200" y="2697480"/>
            <a:ext cx="63720" cy="1800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4" name="Shape 99"/>
          <p:cNvSpPr/>
          <p:nvPr/>
        </p:nvSpPr>
        <p:spPr>
          <a:xfrm>
            <a:off x="2743200" y="2697480"/>
            <a:ext cx="1800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5" name="Text 100"/>
          <p:cNvSpPr/>
          <p:nvPr/>
        </p:nvSpPr>
        <p:spPr>
          <a:xfrm>
            <a:off x="2834640" y="275220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00ff41"/>
                </a:solidFill>
                <a:latin typeface="Consolas"/>
                <a:ea typeface="Consolas"/>
              </a:rPr>
              <a:t>ITA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16" name="Text 101"/>
          <p:cNvSpPr/>
          <p:nvPr/>
        </p:nvSpPr>
        <p:spPr>
          <a:xfrm>
            <a:off x="2834640" y="297180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Italian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17" name="Text 102"/>
          <p:cNvSpPr/>
          <p:nvPr/>
        </p:nvSpPr>
        <p:spPr>
          <a:xfrm>
            <a:off x="2834640" y="315468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Italiano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18" name="Shape 103"/>
          <p:cNvSpPr/>
          <p:nvPr/>
        </p:nvSpPr>
        <p:spPr>
          <a:xfrm>
            <a:off x="3986640" y="269748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9" name="Shape 104"/>
          <p:cNvSpPr/>
          <p:nvPr/>
        </p:nvSpPr>
        <p:spPr>
          <a:xfrm>
            <a:off x="3986640" y="2697480"/>
            <a:ext cx="63720" cy="1800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0" name="Shape 105"/>
          <p:cNvSpPr/>
          <p:nvPr/>
        </p:nvSpPr>
        <p:spPr>
          <a:xfrm>
            <a:off x="3986640" y="2697480"/>
            <a:ext cx="1800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1" name="Text 106"/>
          <p:cNvSpPr/>
          <p:nvPr/>
        </p:nvSpPr>
        <p:spPr>
          <a:xfrm>
            <a:off x="4078080" y="275220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00ff41"/>
                </a:solidFill>
                <a:latin typeface="Consolas"/>
                <a:ea typeface="Consolas"/>
              </a:rPr>
              <a:t>DEU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22" name="Text 107"/>
          <p:cNvSpPr/>
          <p:nvPr/>
        </p:nvSpPr>
        <p:spPr>
          <a:xfrm>
            <a:off x="4078080" y="297180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German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23" name="Text 108"/>
          <p:cNvSpPr/>
          <p:nvPr/>
        </p:nvSpPr>
        <p:spPr>
          <a:xfrm>
            <a:off x="4078080" y="315468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Deutsch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24" name="Shape 109"/>
          <p:cNvSpPr/>
          <p:nvPr/>
        </p:nvSpPr>
        <p:spPr>
          <a:xfrm>
            <a:off x="5230440" y="269748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5" name="Shape 110"/>
          <p:cNvSpPr/>
          <p:nvPr/>
        </p:nvSpPr>
        <p:spPr>
          <a:xfrm>
            <a:off x="5230440" y="2697480"/>
            <a:ext cx="63720" cy="1800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6" name="Shape 111"/>
          <p:cNvSpPr/>
          <p:nvPr/>
        </p:nvSpPr>
        <p:spPr>
          <a:xfrm>
            <a:off x="5230440" y="2697480"/>
            <a:ext cx="1800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7" name="Text 112"/>
          <p:cNvSpPr/>
          <p:nvPr/>
        </p:nvSpPr>
        <p:spPr>
          <a:xfrm>
            <a:off x="5321880" y="275220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00ff41"/>
                </a:solidFill>
                <a:latin typeface="Consolas"/>
                <a:ea typeface="Consolas"/>
              </a:rPr>
              <a:t>POR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28" name="Text 113"/>
          <p:cNvSpPr/>
          <p:nvPr/>
        </p:nvSpPr>
        <p:spPr>
          <a:xfrm>
            <a:off x="5321880" y="297180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Portuguese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29" name="Text 114"/>
          <p:cNvSpPr/>
          <p:nvPr/>
        </p:nvSpPr>
        <p:spPr>
          <a:xfrm>
            <a:off x="5321880" y="315468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Português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30" name="Shape 115"/>
          <p:cNvSpPr/>
          <p:nvPr/>
        </p:nvSpPr>
        <p:spPr>
          <a:xfrm>
            <a:off x="6473880" y="269748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1" name="Shape 116"/>
          <p:cNvSpPr/>
          <p:nvPr/>
        </p:nvSpPr>
        <p:spPr>
          <a:xfrm>
            <a:off x="6473880" y="2697480"/>
            <a:ext cx="63720" cy="1800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32" name="Shape 117"/>
          <p:cNvSpPr/>
          <p:nvPr/>
        </p:nvSpPr>
        <p:spPr>
          <a:xfrm>
            <a:off x="6473880" y="2697480"/>
            <a:ext cx="1800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33" name="Text 118"/>
          <p:cNvSpPr/>
          <p:nvPr/>
        </p:nvSpPr>
        <p:spPr>
          <a:xfrm>
            <a:off x="6565320" y="275220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00ff41"/>
                </a:solidFill>
                <a:latin typeface="Consolas"/>
                <a:ea typeface="Consolas"/>
              </a:rPr>
              <a:t>NLD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34" name="Text 119"/>
          <p:cNvSpPr/>
          <p:nvPr/>
        </p:nvSpPr>
        <p:spPr>
          <a:xfrm>
            <a:off x="6565320" y="297180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Dutch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35" name="Text 120"/>
          <p:cNvSpPr/>
          <p:nvPr/>
        </p:nvSpPr>
        <p:spPr>
          <a:xfrm>
            <a:off x="6565320" y="315468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Nederlands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36" name="Shape 121"/>
          <p:cNvSpPr/>
          <p:nvPr/>
        </p:nvSpPr>
        <p:spPr>
          <a:xfrm>
            <a:off x="7717680" y="269748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7" name="Shape 122"/>
          <p:cNvSpPr/>
          <p:nvPr/>
        </p:nvSpPr>
        <p:spPr>
          <a:xfrm>
            <a:off x="7717680" y="2697480"/>
            <a:ext cx="63720" cy="1800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38" name="Shape 123"/>
          <p:cNvSpPr/>
          <p:nvPr/>
        </p:nvSpPr>
        <p:spPr>
          <a:xfrm>
            <a:off x="7717680" y="2697480"/>
            <a:ext cx="1800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39" name="Text 124"/>
          <p:cNvSpPr/>
          <p:nvPr/>
        </p:nvSpPr>
        <p:spPr>
          <a:xfrm>
            <a:off x="7809120" y="275220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00ff41"/>
                </a:solidFill>
                <a:latin typeface="Consolas"/>
                <a:ea typeface="Consolas"/>
              </a:rPr>
              <a:t>POL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40" name="Text 125"/>
          <p:cNvSpPr/>
          <p:nvPr/>
        </p:nvSpPr>
        <p:spPr>
          <a:xfrm>
            <a:off x="7809120" y="297180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Polish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41" name="Text 126"/>
          <p:cNvSpPr/>
          <p:nvPr/>
        </p:nvSpPr>
        <p:spPr>
          <a:xfrm>
            <a:off x="7809120" y="315468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Polski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42" name="Shape 127"/>
          <p:cNvSpPr/>
          <p:nvPr/>
        </p:nvSpPr>
        <p:spPr>
          <a:xfrm>
            <a:off x="255960" y="354780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3" name="Shape 128"/>
          <p:cNvSpPr/>
          <p:nvPr/>
        </p:nvSpPr>
        <p:spPr>
          <a:xfrm>
            <a:off x="255960" y="3547800"/>
            <a:ext cx="63720" cy="1800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44" name="Shape 129"/>
          <p:cNvSpPr/>
          <p:nvPr/>
        </p:nvSpPr>
        <p:spPr>
          <a:xfrm>
            <a:off x="255960" y="3547800"/>
            <a:ext cx="1800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45" name="Text 130"/>
          <p:cNvSpPr/>
          <p:nvPr/>
        </p:nvSpPr>
        <p:spPr>
          <a:xfrm>
            <a:off x="347400" y="360288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00ff41"/>
                </a:solidFill>
                <a:latin typeface="Consolas"/>
                <a:ea typeface="Consolas"/>
              </a:rPr>
              <a:t>SWE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46" name="Text 131"/>
          <p:cNvSpPr/>
          <p:nvPr/>
        </p:nvSpPr>
        <p:spPr>
          <a:xfrm>
            <a:off x="347400" y="382212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Swedish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47" name="Text 132"/>
          <p:cNvSpPr/>
          <p:nvPr/>
        </p:nvSpPr>
        <p:spPr>
          <a:xfrm>
            <a:off x="347400" y="400500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Svenska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48" name="Shape 133"/>
          <p:cNvSpPr/>
          <p:nvPr/>
        </p:nvSpPr>
        <p:spPr>
          <a:xfrm>
            <a:off x="1499760" y="354780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9" name="Shape 134"/>
          <p:cNvSpPr/>
          <p:nvPr/>
        </p:nvSpPr>
        <p:spPr>
          <a:xfrm>
            <a:off x="1499760" y="3547800"/>
            <a:ext cx="63720" cy="1800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50" name="Shape 135"/>
          <p:cNvSpPr/>
          <p:nvPr/>
        </p:nvSpPr>
        <p:spPr>
          <a:xfrm>
            <a:off x="1499760" y="3547800"/>
            <a:ext cx="1800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51" name="Text 136"/>
          <p:cNvSpPr/>
          <p:nvPr/>
        </p:nvSpPr>
        <p:spPr>
          <a:xfrm>
            <a:off x="1591200" y="360288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00ff41"/>
                </a:solidFill>
                <a:latin typeface="Consolas"/>
                <a:ea typeface="Consolas"/>
              </a:rPr>
              <a:t>TUR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2" name="Text 137"/>
          <p:cNvSpPr/>
          <p:nvPr/>
        </p:nvSpPr>
        <p:spPr>
          <a:xfrm>
            <a:off x="1591200" y="382212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Turkish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53" name="Text 138"/>
          <p:cNvSpPr/>
          <p:nvPr/>
        </p:nvSpPr>
        <p:spPr>
          <a:xfrm>
            <a:off x="1591200" y="400500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Türkçe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54" name="Shape 139"/>
          <p:cNvSpPr/>
          <p:nvPr/>
        </p:nvSpPr>
        <p:spPr>
          <a:xfrm>
            <a:off x="2743200" y="354780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ffb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5" name="Shape 140"/>
          <p:cNvSpPr/>
          <p:nvPr/>
        </p:nvSpPr>
        <p:spPr>
          <a:xfrm>
            <a:off x="2743200" y="3547800"/>
            <a:ext cx="63720" cy="1800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56" name="Shape 141"/>
          <p:cNvSpPr/>
          <p:nvPr/>
        </p:nvSpPr>
        <p:spPr>
          <a:xfrm>
            <a:off x="2743200" y="3547800"/>
            <a:ext cx="18000" cy="6372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57" name="Text 142"/>
          <p:cNvSpPr/>
          <p:nvPr/>
        </p:nvSpPr>
        <p:spPr>
          <a:xfrm>
            <a:off x="2834640" y="360288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ffb000"/>
                </a:solidFill>
                <a:latin typeface="Consolas"/>
                <a:ea typeface="Consolas"/>
              </a:rPr>
              <a:t>VIE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8" name="Text 143"/>
          <p:cNvSpPr/>
          <p:nvPr/>
        </p:nvSpPr>
        <p:spPr>
          <a:xfrm>
            <a:off x="2834640" y="382212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Vietnamese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59" name="Text 144"/>
          <p:cNvSpPr/>
          <p:nvPr/>
        </p:nvSpPr>
        <p:spPr>
          <a:xfrm>
            <a:off x="2834640" y="400500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Tiếng Việt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60" name="Shape 145"/>
          <p:cNvSpPr/>
          <p:nvPr/>
        </p:nvSpPr>
        <p:spPr>
          <a:xfrm>
            <a:off x="3986640" y="354780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Shape 146"/>
          <p:cNvSpPr/>
          <p:nvPr/>
        </p:nvSpPr>
        <p:spPr>
          <a:xfrm>
            <a:off x="3986640" y="3547800"/>
            <a:ext cx="63720" cy="1800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2" name="Shape 147"/>
          <p:cNvSpPr/>
          <p:nvPr/>
        </p:nvSpPr>
        <p:spPr>
          <a:xfrm>
            <a:off x="3986640" y="3547800"/>
            <a:ext cx="1800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3" name="Text 148"/>
          <p:cNvSpPr/>
          <p:nvPr/>
        </p:nvSpPr>
        <p:spPr>
          <a:xfrm>
            <a:off x="4078080" y="360288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00ff41"/>
                </a:solidFill>
                <a:latin typeface="Consolas"/>
                <a:ea typeface="Consolas"/>
              </a:rPr>
              <a:t>IND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64" name="Text 149"/>
          <p:cNvSpPr/>
          <p:nvPr/>
        </p:nvSpPr>
        <p:spPr>
          <a:xfrm>
            <a:off x="4078080" y="382212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Indonesian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65" name="Text 150"/>
          <p:cNvSpPr/>
          <p:nvPr/>
        </p:nvSpPr>
        <p:spPr>
          <a:xfrm>
            <a:off x="4078080" y="400500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Indonesia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66" name="Shape 151"/>
          <p:cNvSpPr/>
          <p:nvPr/>
        </p:nvSpPr>
        <p:spPr>
          <a:xfrm>
            <a:off x="5230440" y="354780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7" name="Shape 152"/>
          <p:cNvSpPr/>
          <p:nvPr/>
        </p:nvSpPr>
        <p:spPr>
          <a:xfrm>
            <a:off x="5230440" y="3547800"/>
            <a:ext cx="63720" cy="1800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8" name="Shape 153"/>
          <p:cNvSpPr/>
          <p:nvPr/>
        </p:nvSpPr>
        <p:spPr>
          <a:xfrm>
            <a:off x="5230440" y="3547800"/>
            <a:ext cx="1800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9" name="Text 154"/>
          <p:cNvSpPr/>
          <p:nvPr/>
        </p:nvSpPr>
        <p:spPr>
          <a:xfrm>
            <a:off x="5321880" y="360288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00ff41"/>
                </a:solidFill>
                <a:latin typeface="Consolas"/>
                <a:ea typeface="Consolas"/>
              </a:rPr>
              <a:t>TGL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70" name="Text 155"/>
          <p:cNvSpPr/>
          <p:nvPr/>
        </p:nvSpPr>
        <p:spPr>
          <a:xfrm>
            <a:off x="5321880" y="382212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Tagalog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71" name="Text 156"/>
          <p:cNvSpPr/>
          <p:nvPr/>
        </p:nvSpPr>
        <p:spPr>
          <a:xfrm>
            <a:off x="5321880" y="400500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Filipino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72" name="Shape 157"/>
          <p:cNvSpPr/>
          <p:nvPr/>
        </p:nvSpPr>
        <p:spPr>
          <a:xfrm>
            <a:off x="6473880" y="354780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ffb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3" name="Shape 158"/>
          <p:cNvSpPr/>
          <p:nvPr/>
        </p:nvSpPr>
        <p:spPr>
          <a:xfrm>
            <a:off x="6473880" y="3547800"/>
            <a:ext cx="63720" cy="1800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4" name="Shape 159"/>
          <p:cNvSpPr/>
          <p:nvPr/>
        </p:nvSpPr>
        <p:spPr>
          <a:xfrm>
            <a:off x="6473880" y="3547800"/>
            <a:ext cx="18000" cy="6372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5" name="Text 160"/>
          <p:cNvSpPr/>
          <p:nvPr/>
        </p:nvSpPr>
        <p:spPr>
          <a:xfrm>
            <a:off x="6565320" y="360288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ffb000"/>
                </a:solidFill>
                <a:latin typeface="Consolas"/>
                <a:ea typeface="Consolas"/>
              </a:rPr>
              <a:t>BUL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76" name="Text 161"/>
          <p:cNvSpPr/>
          <p:nvPr/>
        </p:nvSpPr>
        <p:spPr>
          <a:xfrm>
            <a:off x="6565320" y="382212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Bulgarian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77" name="Text 162"/>
          <p:cNvSpPr/>
          <p:nvPr/>
        </p:nvSpPr>
        <p:spPr>
          <a:xfrm>
            <a:off x="6565320" y="400500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Български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78" name="Shape 163"/>
          <p:cNvSpPr/>
          <p:nvPr/>
        </p:nvSpPr>
        <p:spPr>
          <a:xfrm>
            <a:off x="7717680" y="3547800"/>
            <a:ext cx="1170000" cy="776880"/>
          </a:xfrm>
          <a:prstGeom prst="rect">
            <a:avLst/>
          </a:prstGeom>
          <a:solidFill>
            <a:srgbClr val="0b0f13"/>
          </a:solidFill>
          <a:ln w="6350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9" name="Shape 164"/>
          <p:cNvSpPr/>
          <p:nvPr/>
        </p:nvSpPr>
        <p:spPr>
          <a:xfrm>
            <a:off x="7717680" y="3547800"/>
            <a:ext cx="63720" cy="1800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0" name="Shape 165"/>
          <p:cNvSpPr/>
          <p:nvPr/>
        </p:nvSpPr>
        <p:spPr>
          <a:xfrm>
            <a:off x="7717680" y="3547800"/>
            <a:ext cx="1800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1" name="Text 166"/>
          <p:cNvSpPr/>
          <p:nvPr/>
        </p:nvSpPr>
        <p:spPr>
          <a:xfrm>
            <a:off x="7809120" y="3602880"/>
            <a:ext cx="987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199" strike="noStrike">
                <a:solidFill>
                  <a:srgbClr val="00ff41"/>
                </a:solidFill>
                <a:latin typeface="Consolas"/>
                <a:ea typeface="Consolas"/>
              </a:rPr>
              <a:t>ENG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82" name="Text 167"/>
          <p:cNvSpPr/>
          <p:nvPr/>
        </p:nvSpPr>
        <p:spPr>
          <a:xfrm>
            <a:off x="7809120" y="3822120"/>
            <a:ext cx="987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97" strike="noStrike">
                <a:solidFill>
                  <a:srgbClr val="00cc33"/>
                </a:solidFill>
                <a:latin typeface="Consolas"/>
                <a:ea typeface="Consolas"/>
              </a:rPr>
              <a:t>English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83" name="Text 168"/>
          <p:cNvSpPr/>
          <p:nvPr/>
        </p:nvSpPr>
        <p:spPr>
          <a:xfrm>
            <a:off x="7809120" y="400500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English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84" name="Shape 169"/>
          <p:cNvSpPr/>
          <p:nvPr/>
        </p:nvSpPr>
        <p:spPr>
          <a:xfrm>
            <a:off x="384120" y="4581000"/>
            <a:ext cx="127800" cy="3636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5" name="Text 170"/>
          <p:cNvSpPr/>
          <p:nvPr/>
        </p:nvSpPr>
        <p:spPr>
          <a:xfrm>
            <a:off x="567000" y="452628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199" strike="noStrike">
                <a:solidFill>
                  <a:srgbClr val="00cc33"/>
                </a:solidFill>
                <a:latin typeface="Consolas"/>
                <a:ea typeface="Consolas"/>
              </a:rPr>
              <a:t>LATIN SCRIPT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86" name="Shape 171"/>
          <p:cNvSpPr/>
          <p:nvPr/>
        </p:nvSpPr>
        <p:spPr>
          <a:xfrm>
            <a:off x="1874520" y="4581000"/>
            <a:ext cx="127800" cy="3636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7" name="Text 172"/>
          <p:cNvSpPr/>
          <p:nvPr/>
        </p:nvSpPr>
        <p:spPr>
          <a:xfrm>
            <a:off x="2057400" y="4526280"/>
            <a:ext cx="2102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199" strike="noStrike">
                <a:solidFill>
                  <a:srgbClr val="ffb000"/>
                </a:solidFill>
                <a:latin typeface="Consolas"/>
                <a:ea typeface="Consolas"/>
              </a:rPr>
              <a:t>ROMANIZATION ASSIST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88" name="Text 173"/>
          <p:cNvSpPr/>
          <p:nvPr/>
        </p:nvSpPr>
        <p:spPr>
          <a:xfrm>
            <a:off x="5029200" y="4526280"/>
            <a:ext cx="3748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199" strike="noStrike">
                <a:solidFill>
                  <a:srgbClr val="008824"/>
                </a:solidFill>
                <a:latin typeface="Consolas"/>
                <a:ea typeface="Consolas"/>
              </a:rPr>
              <a:t>21 / 21 LOADED  ●</a:t>
            </a:r>
            <a:endParaRPr b="0" lang="en-US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Shape 0"/>
          <p:cNvSpPr/>
          <p:nvPr/>
        </p:nvSpPr>
        <p:spPr>
          <a:xfrm>
            <a:off x="0" y="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0" name="Shape 1"/>
          <p:cNvSpPr/>
          <p:nvPr/>
        </p:nvSpPr>
        <p:spPr>
          <a:xfrm>
            <a:off x="0" y="233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1" name="Shape 2"/>
          <p:cNvSpPr/>
          <p:nvPr/>
        </p:nvSpPr>
        <p:spPr>
          <a:xfrm>
            <a:off x="0" y="467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2" name="Shape 3"/>
          <p:cNvSpPr/>
          <p:nvPr/>
        </p:nvSpPr>
        <p:spPr>
          <a:xfrm>
            <a:off x="0" y="701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3" name="Shape 4"/>
          <p:cNvSpPr/>
          <p:nvPr/>
        </p:nvSpPr>
        <p:spPr>
          <a:xfrm>
            <a:off x="0" y="935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4" name="Shape 5"/>
          <p:cNvSpPr/>
          <p:nvPr/>
        </p:nvSpPr>
        <p:spPr>
          <a:xfrm>
            <a:off x="0" y="1168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5" name="Shape 6"/>
          <p:cNvSpPr/>
          <p:nvPr/>
        </p:nvSpPr>
        <p:spPr>
          <a:xfrm>
            <a:off x="0" y="1402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6" name="Shape 7"/>
          <p:cNvSpPr/>
          <p:nvPr/>
        </p:nvSpPr>
        <p:spPr>
          <a:xfrm>
            <a:off x="0" y="16365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7" name="Shape 8"/>
          <p:cNvSpPr/>
          <p:nvPr/>
        </p:nvSpPr>
        <p:spPr>
          <a:xfrm>
            <a:off x="0" y="1870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8" name="Shape 9"/>
          <p:cNvSpPr/>
          <p:nvPr/>
        </p:nvSpPr>
        <p:spPr>
          <a:xfrm>
            <a:off x="0" y="2104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9" name="Shape 10"/>
          <p:cNvSpPr/>
          <p:nvPr/>
        </p:nvSpPr>
        <p:spPr>
          <a:xfrm>
            <a:off x="0" y="2337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0" name="Shape 11"/>
          <p:cNvSpPr/>
          <p:nvPr/>
        </p:nvSpPr>
        <p:spPr>
          <a:xfrm>
            <a:off x="0" y="2571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1" name="Shape 12"/>
          <p:cNvSpPr/>
          <p:nvPr/>
        </p:nvSpPr>
        <p:spPr>
          <a:xfrm>
            <a:off x="0" y="2805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2" name="Shape 13"/>
          <p:cNvSpPr/>
          <p:nvPr/>
        </p:nvSpPr>
        <p:spPr>
          <a:xfrm>
            <a:off x="0" y="3039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3" name="Shape 14"/>
          <p:cNvSpPr/>
          <p:nvPr/>
        </p:nvSpPr>
        <p:spPr>
          <a:xfrm>
            <a:off x="0" y="32731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4" name="Shape 15"/>
          <p:cNvSpPr/>
          <p:nvPr/>
        </p:nvSpPr>
        <p:spPr>
          <a:xfrm>
            <a:off x="0" y="3506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5" name="Shape 16"/>
          <p:cNvSpPr/>
          <p:nvPr/>
        </p:nvSpPr>
        <p:spPr>
          <a:xfrm>
            <a:off x="0" y="3740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6" name="Shape 17"/>
          <p:cNvSpPr/>
          <p:nvPr/>
        </p:nvSpPr>
        <p:spPr>
          <a:xfrm>
            <a:off x="0" y="3974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7" name="Shape 18"/>
          <p:cNvSpPr/>
          <p:nvPr/>
        </p:nvSpPr>
        <p:spPr>
          <a:xfrm>
            <a:off x="0" y="4208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8" name="Shape 19"/>
          <p:cNvSpPr/>
          <p:nvPr/>
        </p:nvSpPr>
        <p:spPr>
          <a:xfrm>
            <a:off x="0" y="4442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9" name="Shape 20"/>
          <p:cNvSpPr/>
          <p:nvPr/>
        </p:nvSpPr>
        <p:spPr>
          <a:xfrm>
            <a:off x="0" y="4676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0" name="Shape 21"/>
          <p:cNvSpPr/>
          <p:nvPr/>
        </p:nvSpPr>
        <p:spPr>
          <a:xfrm>
            <a:off x="0" y="49096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1" name="Shape 22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2" name="Shape 23"/>
          <p:cNvSpPr/>
          <p:nvPr/>
        </p:nvSpPr>
        <p:spPr>
          <a:xfrm>
            <a:off x="0" y="29268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3" name="Text 24"/>
          <p:cNvSpPr/>
          <p:nvPr/>
        </p:nvSpPr>
        <p:spPr>
          <a:xfrm>
            <a:off x="20124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▸ </a:t>
            </a: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SECTION 07 / 08  //  QUEUE.PENDING()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14" name="Text 25"/>
          <p:cNvSpPr/>
          <p:nvPr/>
        </p:nvSpPr>
        <p:spPr>
          <a:xfrm>
            <a:off x="347472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199" strike="noStrike">
                <a:solidFill>
                  <a:srgbClr val="7a7a7a"/>
                </a:solidFill>
                <a:latin typeface="Consolas"/>
                <a:ea typeface="Consolas"/>
              </a:rPr>
              <a:t>LINGUA_FRANCA // v1.0.0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15" name="Shape 26"/>
          <p:cNvSpPr/>
          <p:nvPr/>
        </p:nvSpPr>
        <p:spPr>
          <a:xfrm>
            <a:off x="8915400" y="114480"/>
            <a:ext cx="6372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6" name="Shape 27"/>
          <p:cNvSpPr/>
          <p:nvPr/>
        </p:nvSpPr>
        <p:spPr>
          <a:xfrm>
            <a:off x="0" y="4887360"/>
            <a:ext cx="9143640" cy="25560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7" name="Shape 28"/>
          <p:cNvSpPr/>
          <p:nvPr/>
        </p:nvSpPr>
        <p:spPr>
          <a:xfrm>
            <a:off x="0" y="487656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8" name="Text 29"/>
          <p:cNvSpPr/>
          <p:nvPr/>
        </p:nvSpPr>
        <p:spPr>
          <a:xfrm>
            <a:off x="274320" y="4887360"/>
            <a:ext cx="8595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299" strike="noStrike">
                <a:solidFill>
                  <a:srgbClr val="008824"/>
                </a:solidFill>
                <a:latin typeface="Consolas"/>
                <a:ea typeface="Consolas"/>
              </a:rPr>
              <a:t>STATUS: READY   ●   UPLINK STABLE   ●   RED_CAMBRIA @ 2026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719" name="Shape 30"/>
          <p:cNvSpPr/>
          <p:nvPr/>
        </p:nvSpPr>
        <p:spPr>
          <a:xfrm>
            <a:off x="164520" y="1645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0" name="Shape 31"/>
          <p:cNvSpPr/>
          <p:nvPr/>
        </p:nvSpPr>
        <p:spPr>
          <a:xfrm>
            <a:off x="164520" y="1645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1" name="Shape 32"/>
          <p:cNvSpPr/>
          <p:nvPr/>
        </p:nvSpPr>
        <p:spPr>
          <a:xfrm>
            <a:off x="8778240" y="1645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2" name="Shape 33"/>
          <p:cNvSpPr/>
          <p:nvPr/>
        </p:nvSpPr>
        <p:spPr>
          <a:xfrm>
            <a:off x="8956440" y="1645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3" name="Shape 34"/>
          <p:cNvSpPr/>
          <p:nvPr/>
        </p:nvSpPr>
        <p:spPr>
          <a:xfrm>
            <a:off x="164520" y="49561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4" name="Shape 35"/>
          <p:cNvSpPr/>
          <p:nvPr/>
        </p:nvSpPr>
        <p:spPr>
          <a:xfrm>
            <a:off x="164520" y="47779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5" name="Shape 36"/>
          <p:cNvSpPr/>
          <p:nvPr/>
        </p:nvSpPr>
        <p:spPr>
          <a:xfrm>
            <a:off x="8778240" y="4956120"/>
            <a:ext cx="200880" cy="226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6" name="Shape 37"/>
          <p:cNvSpPr/>
          <p:nvPr/>
        </p:nvSpPr>
        <p:spPr>
          <a:xfrm>
            <a:off x="8956440" y="4777920"/>
            <a:ext cx="22680" cy="200880"/>
          </a:xfrm>
          <a:prstGeom prst="rect">
            <a:avLst/>
          </a:prstGeom>
          <a:solidFill>
            <a:srgbClr val="003d0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7" name="Text 38"/>
          <p:cNvSpPr/>
          <p:nvPr/>
        </p:nvSpPr>
        <p:spPr>
          <a:xfrm>
            <a:off x="365760" y="5029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398" strike="noStrike">
                <a:solidFill>
                  <a:srgbClr val="00ff41"/>
                </a:solidFill>
                <a:latin typeface="Consolas"/>
                <a:ea typeface="Consolas"/>
              </a:rPr>
              <a:t>&gt; QUEUE.PENDING()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28" name="Text 39"/>
          <p:cNvSpPr/>
          <p:nvPr/>
        </p:nvSpPr>
        <p:spPr>
          <a:xfrm>
            <a:off x="365760" y="75888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599" strike="noStrike">
                <a:solidFill>
                  <a:srgbClr val="00cc33"/>
                </a:solidFill>
                <a:latin typeface="Consolas"/>
                <a:ea typeface="Consolas"/>
              </a:rPr>
              <a:t>WHAT'S NEXT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729" name="Shape 40"/>
          <p:cNvSpPr/>
          <p:nvPr/>
        </p:nvSpPr>
        <p:spPr>
          <a:xfrm>
            <a:off x="365760" y="1417320"/>
            <a:ext cx="548280" cy="2268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0" name="Shape 41"/>
          <p:cNvSpPr/>
          <p:nvPr/>
        </p:nvSpPr>
        <p:spPr>
          <a:xfrm>
            <a:off x="960120" y="1417320"/>
            <a:ext cx="7772040" cy="2268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1" name="Shape 42"/>
          <p:cNvSpPr/>
          <p:nvPr/>
        </p:nvSpPr>
        <p:spPr>
          <a:xfrm>
            <a:off x="411480" y="1783080"/>
            <a:ext cx="4068720" cy="127980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2" name="Shape 43"/>
          <p:cNvSpPr/>
          <p:nvPr/>
        </p:nvSpPr>
        <p:spPr>
          <a:xfrm>
            <a:off x="411480" y="1783080"/>
            <a:ext cx="72720" cy="2268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3" name="Shape 44"/>
          <p:cNvSpPr/>
          <p:nvPr/>
        </p:nvSpPr>
        <p:spPr>
          <a:xfrm>
            <a:off x="411480" y="1783080"/>
            <a:ext cx="22680" cy="7272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4" name="Shape 45"/>
          <p:cNvSpPr/>
          <p:nvPr/>
        </p:nvSpPr>
        <p:spPr>
          <a:xfrm>
            <a:off x="521280" y="1892880"/>
            <a:ext cx="54360" cy="106020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5" name="Shape 46"/>
          <p:cNvSpPr/>
          <p:nvPr/>
        </p:nvSpPr>
        <p:spPr>
          <a:xfrm>
            <a:off x="685800" y="1947600"/>
            <a:ext cx="63972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ffb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6" name="Text 47"/>
          <p:cNvSpPr/>
          <p:nvPr/>
        </p:nvSpPr>
        <p:spPr>
          <a:xfrm>
            <a:off x="685800" y="1947600"/>
            <a:ext cx="6397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ffb000"/>
                </a:solidFill>
                <a:latin typeface="Consolas"/>
                <a:ea typeface="Consolas"/>
              </a:rPr>
              <a:t>[DEV]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737" name="Text 48"/>
          <p:cNvSpPr/>
          <p:nvPr/>
        </p:nvSpPr>
        <p:spPr>
          <a:xfrm>
            <a:off x="685800" y="2221920"/>
            <a:ext cx="3657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299" strike="noStrike">
                <a:solidFill>
                  <a:srgbClr val="00ff41"/>
                </a:solidFill>
                <a:latin typeface="Consolas"/>
                <a:ea typeface="Consolas"/>
              </a:rPr>
              <a:t>AI CONVERSATION COACH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38" name="Shape 49"/>
          <p:cNvSpPr/>
          <p:nvPr/>
        </p:nvSpPr>
        <p:spPr>
          <a:xfrm>
            <a:off x="685800" y="2633400"/>
            <a:ext cx="319680" cy="18000"/>
          </a:xfrm>
          <a:prstGeom prst="rect">
            <a:avLst/>
          </a:prstGeom>
          <a:solidFill>
            <a:srgbClr val="ffb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9" name="Text 50"/>
          <p:cNvSpPr/>
          <p:nvPr/>
        </p:nvSpPr>
        <p:spPr>
          <a:xfrm>
            <a:off x="685800" y="269748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Real-time suggestions based on what the other person says.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40" name="Shape 51"/>
          <p:cNvSpPr/>
          <p:nvPr/>
        </p:nvSpPr>
        <p:spPr>
          <a:xfrm>
            <a:off x="4663440" y="1783080"/>
            <a:ext cx="4068720" cy="127980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1" name="Shape 52"/>
          <p:cNvSpPr/>
          <p:nvPr/>
        </p:nvSpPr>
        <p:spPr>
          <a:xfrm>
            <a:off x="4663440" y="1783080"/>
            <a:ext cx="72720" cy="22680"/>
          </a:xfrm>
          <a:prstGeom prst="rect">
            <a:avLst/>
          </a:prstGeom>
          <a:solidFill>
            <a:srgbClr val="3ca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42" name="Shape 53"/>
          <p:cNvSpPr/>
          <p:nvPr/>
        </p:nvSpPr>
        <p:spPr>
          <a:xfrm>
            <a:off x="4663440" y="1783080"/>
            <a:ext cx="22680" cy="72720"/>
          </a:xfrm>
          <a:prstGeom prst="rect">
            <a:avLst/>
          </a:prstGeom>
          <a:solidFill>
            <a:srgbClr val="3ca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43" name="Shape 54"/>
          <p:cNvSpPr/>
          <p:nvPr/>
        </p:nvSpPr>
        <p:spPr>
          <a:xfrm>
            <a:off x="4773240" y="1892880"/>
            <a:ext cx="54360" cy="1060200"/>
          </a:xfrm>
          <a:prstGeom prst="rect">
            <a:avLst/>
          </a:prstGeom>
          <a:solidFill>
            <a:srgbClr val="3ca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44" name="Shape 55"/>
          <p:cNvSpPr/>
          <p:nvPr/>
        </p:nvSpPr>
        <p:spPr>
          <a:xfrm>
            <a:off x="4937760" y="1947600"/>
            <a:ext cx="84096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3ca0e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5" name="Text 56"/>
          <p:cNvSpPr/>
          <p:nvPr/>
        </p:nvSpPr>
        <p:spPr>
          <a:xfrm>
            <a:off x="4937760" y="1947600"/>
            <a:ext cx="840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3ca0e0"/>
                </a:solidFill>
                <a:latin typeface="Consolas"/>
                <a:ea typeface="Consolas"/>
              </a:rPr>
              <a:t>[DESIGN]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746" name="Text 57"/>
          <p:cNvSpPr/>
          <p:nvPr/>
        </p:nvSpPr>
        <p:spPr>
          <a:xfrm>
            <a:off x="4937760" y="2221920"/>
            <a:ext cx="3657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299" strike="noStrike">
                <a:solidFill>
                  <a:srgbClr val="00ff41"/>
                </a:solidFill>
                <a:latin typeface="Consolas"/>
                <a:ea typeface="Consolas"/>
              </a:rPr>
              <a:t>TEXT-TO-SPEECH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47" name="Shape 58"/>
          <p:cNvSpPr/>
          <p:nvPr/>
        </p:nvSpPr>
        <p:spPr>
          <a:xfrm>
            <a:off x="4937760" y="2633400"/>
            <a:ext cx="319680" cy="18000"/>
          </a:xfrm>
          <a:prstGeom prst="rect">
            <a:avLst/>
          </a:prstGeom>
          <a:solidFill>
            <a:srgbClr val="3ca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48" name="Text 59"/>
          <p:cNvSpPr/>
          <p:nvPr/>
        </p:nvSpPr>
        <p:spPr>
          <a:xfrm>
            <a:off x="4937760" y="269748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Hear correct pronunciation through the glasses speaker.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49" name="Shape 60"/>
          <p:cNvSpPr/>
          <p:nvPr/>
        </p:nvSpPr>
        <p:spPr>
          <a:xfrm>
            <a:off x="411480" y="3264480"/>
            <a:ext cx="4068720" cy="127980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0" name="Shape 61"/>
          <p:cNvSpPr/>
          <p:nvPr/>
        </p:nvSpPr>
        <p:spPr>
          <a:xfrm>
            <a:off x="411480" y="3264480"/>
            <a:ext cx="72720" cy="2268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1" name="Shape 62"/>
          <p:cNvSpPr/>
          <p:nvPr/>
        </p:nvSpPr>
        <p:spPr>
          <a:xfrm>
            <a:off x="411480" y="3264480"/>
            <a:ext cx="22680" cy="7272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2" name="Shape 63"/>
          <p:cNvSpPr/>
          <p:nvPr/>
        </p:nvSpPr>
        <p:spPr>
          <a:xfrm>
            <a:off x="521280" y="3374280"/>
            <a:ext cx="54360" cy="106020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3" name="Shape 64"/>
          <p:cNvSpPr/>
          <p:nvPr/>
        </p:nvSpPr>
        <p:spPr>
          <a:xfrm>
            <a:off x="685800" y="3429000"/>
            <a:ext cx="99648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b06bd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4" name="Text 65"/>
          <p:cNvSpPr/>
          <p:nvPr/>
        </p:nvSpPr>
        <p:spPr>
          <a:xfrm>
            <a:off x="685800" y="3429000"/>
            <a:ext cx="996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b06bd6"/>
                </a:solidFill>
                <a:latin typeface="Consolas"/>
                <a:ea typeface="Consolas"/>
              </a:rPr>
              <a:t>[RESEARCH]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755" name="Text 66"/>
          <p:cNvSpPr/>
          <p:nvPr/>
        </p:nvSpPr>
        <p:spPr>
          <a:xfrm>
            <a:off x="685800" y="3703320"/>
            <a:ext cx="3657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299" strike="noStrike">
                <a:solidFill>
                  <a:srgbClr val="00ff41"/>
                </a:solidFill>
                <a:latin typeface="Consolas"/>
                <a:ea typeface="Consolas"/>
              </a:rPr>
              <a:t>SPACED REPETITION QUIZ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56" name="Shape 67"/>
          <p:cNvSpPr/>
          <p:nvPr/>
        </p:nvSpPr>
        <p:spPr>
          <a:xfrm>
            <a:off x="685800" y="4114800"/>
            <a:ext cx="319680" cy="18000"/>
          </a:xfrm>
          <a:prstGeom prst="rect">
            <a:avLst/>
          </a:prstGeom>
          <a:solidFill>
            <a:srgbClr val="b06b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7" name="Text 68"/>
          <p:cNvSpPr/>
          <p:nvPr/>
        </p:nvSpPr>
        <p:spPr>
          <a:xfrm>
            <a:off x="685800" y="417888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Review phrases you've used — adapted to your progress.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58" name="Shape 69"/>
          <p:cNvSpPr/>
          <p:nvPr/>
        </p:nvSpPr>
        <p:spPr>
          <a:xfrm>
            <a:off x="4663440" y="3264480"/>
            <a:ext cx="4068720" cy="1279800"/>
          </a:xfrm>
          <a:prstGeom prst="rect">
            <a:avLst/>
          </a:prstGeom>
          <a:solidFill>
            <a:srgbClr val="0b0f13"/>
          </a:solidFill>
          <a:ln w="9525">
            <a:solidFill>
              <a:srgbClr val="1f362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9" name="Shape 70"/>
          <p:cNvSpPr/>
          <p:nvPr/>
        </p:nvSpPr>
        <p:spPr>
          <a:xfrm>
            <a:off x="4663440" y="3264480"/>
            <a:ext cx="72720" cy="226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0" name="Shape 71"/>
          <p:cNvSpPr/>
          <p:nvPr/>
        </p:nvSpPr>
        <p:spPr>
          <a:xfrm>
            <a:off x="4663440" y="3264480"/>
            <a:ext cx="22680" cy="7272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1" name="Shape 72"/>
          <p:cNvSpPr/>
          <p:nvPr/>
        </p:nvSpPr>
        <p:spPr>
          <a:xfrm>
            <a:off x="4773240" y="3374280"/>
            <a:ext cx="54360" cy="106020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2" name="Shape 73"/>
          <p:cNvSpPr/>
          <p:nvPr/>
        </p:nvSpPr>
        <p:spPr>
          <a:xfrm>
            <a:off x="4937760" y="3429000"/>
            <a:ext cx="840960" cy="219240"/>
          </a:xfrm>
          <a:prstGeom prst="rect">
            <a:avLst/>
          </a:prstGeom>
          <a:solidFill>
            <a:srgbClr val="0b0f13"/>
          </a:solidFill>
          <a:ln w="6350">
            <a:solidFill>
              <a:srgbClr val="00882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3" name="Text 74"/>
          <p:cNvSpPr/>
          <p:nvPr/>
        </p:nvSpPr>
        <p:spPr>
          <a:xfrm>
            <a:off x="4937760" y="3429000"/>
            <a:ext cx="840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97" strike="noStrike">
                <a:solidFill>
                  <a:srgbClr val="008824"/>
                </a:solidFill>
                <a:latin typeface="Consolas"/>
                <a:ea typeface="Consolas"/>
              </a:rPr>
              <a:t>[QUEUED]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764" name="Text 75"/>
          <p:cNvSpPr/>
          <p:nvPr/>
        </p:nvSpPr>
        <p:spPr>
          <a:xfrm>
            <a:off x="4937760" y="3703320"/>
            <a:ext cx="3657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299" strike="noStrike">
                <a:solidFill>
                  <a:srgbClr val="00ff41"/>
                </a:solidFill>
                <a:latin typeface="Consolas"/>
                <a:ea typeface="Consolas"/>
              </a:rPr>
              <a:t>CULTURAL CONTEXT TIPS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65" name="Shape 76"/>
          <p:cNvSpPr/>
          <p:nvPr/>
        </p:nvSpPr>
        <p:spPr>
          <a:xfrm>
            <a:off x="4937760" y="4114800"/>
            <a:ext cx="319680" cy="1800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6" name="Text 77"/>
          <p:cNvSpPr/>
          <p:nvPr/>
        </p:nvSpPr>
        <p:spPr>
          <a:xfrm>
            <a:off x="4937760" y="417888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c8c8c8"/>
                </a:solidFill>
                <a:latin typeface="Consolas"/>
                <a:ea typeface="Consolas"/>
              </a:rPr>
              <a:t>Know when to bow, which hand to use, local customs.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67" name="Text 78"/>
          <p:cNvSpPr/>
          <p:nvPr/>
        </p:nvSpPr>
        <p:spPr>
          <a:xfrm>
            <a:off x="365760" y="4526280"/>
            <a:ext cx="8412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299" strike="noStrike">
                <a:solidFill>
                  <a:srgbClr val="008824"/>
                </a:solidFill>
                <a:latin typeface="Consolas"/>
                <a:ea typeface="Consolas"/>
              </a:rPr>
              <a:t>QUEUE: 4 PENDING   //   NEXT SPRINT: Q3 2026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Shape 0"/>
          <p:cNvSpPr/>
          <p:nvPr/>
        </p:nvSpPr>
        <p:spPr>
          <a:xfrm>
            <a:off x="0" y="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9" name="Shape 1"/>
          <p:cNvSpPr/>
          <p:nvPr/>
        </p:nvSpPr>
        <p:spPr>
          <a:xfrm>
            <a:off x="0" y="233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70" name="Shape 2"/>
          <p:cNvSpPr/>
          <p:nvPr/>
        </p:nvSpPr>
        <p:spPr>
          <a:xfrm>
            <a:off x="0" y="4676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71" name="Shape 3"/>
          <p:cNvSpPr/>
          <p:nvPr/>
        </p:nvSpPr>
        <p:spPr>
          <a:xfrm>
            <a:off x="0" y="701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72" name="Shape 4"/>
          <p:cNvSpPr/>
          <p:nvPr/>
        </p:nvSpPr>
        <p:spPr>
          <a:xfrm>
            <a:off x="0" y="9352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73" name="Shape 5"/>
          <p:cNvSpPr/>
          <p:nvPr/>
        </p:nvSpPr>
        <p:spPr>
          <a:xfrm>
            <a:off x="0" y="1168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74" name="Shape 6"/>
          <p:cNvSpPr/>
          <p:nvPr/>
        </p:nvSpPr>
        <p:spPr>
          <a:xfrm>
            <a:off x="0" y="14029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75" name="Shape 7"/>
          <p:cNvSpPr/>
          <p:nvPr/>
        </p:nvSpPr>
        <p:spPr>
          <a:xfrm>
            <a:off x="0" y="16365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76" name="Shape 8"/>
          <p:cNvSpPr/>
          <p:nvPr/>
        </p:nvSpPr>
        <p:spPr>
          <a:xfrm>
            <a:off x="0" y="1870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77" name="Shape 9"/>
          <p:cNvSpPr/>
          <p:nvPr/>
        </p:nvSpPr>
        <p:spPr>
          <a:xfrm>
            <a:off x="0" y="21042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78" name="Shape 10"/>
          <p:cNvSpPr/>
          <p:nvPr/>
        </p:nvSpPr>
        <p:spPr>
          <a:xfrm>
            <a:off x="0" y="2337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79" name="Shape 11"/>
          <p:cNvSpPr/>
          <p:nvPr/>
        </p:nvSpPr>
        <p:spPr>
          <a:xfrm>
            <a:off x="0" y="25718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80" name="Shape 12"/>
          <p:cNvSpPr/>
          <p:nvPr/>
        </p:nvSpPr>
        <p:spPr>
          <a:xfrm>
            <a:off x="0" y="2805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81" name="Shape 13"/>
          <p:cNvSpPr/>
          <p:nvPr/>
        </p:nvSpPr>
        <p:spPr>
          <a:xfrm>
            <a:off x="0" y="30394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82" name="Shape 14"/>
          <p:cNvSpPr/>
          <p:nvPr/>
        </p:nvSpPr>
        <p:spPr>
          <a:xfrm>
            <a:off x="0" y="327312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83" name="Shape 15"/>
          <p:cNvSpPr/>
          <p:nvPr/>
        </p:nvSpPr>
        <p:spPr>
          <a:xfrm>
            <a:off x="0" y="3506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84" name="Shape 16"/>
          <p:cNvSpPr/>
          <p:nvPr/>
        </p:nvSpPr>
        <p:spPr>
          <a:xfrm>
            <a:off x="0" y="374076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85" name="Shape 17"/>
          <p:cNvSpPr/>
          <p:nvPr/>
        </p:nvSpPr>
        <p:spPr>
          <a:xfrm>
            <a:off x="0" y="3974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86" name="Shape 18"/>
          <p:cNvSpPr/>
          <p:nvPr/>
        </p:nvSpPr>
        <p:spPr>
          <a:xfrm>
            <a:off x="0" y="420840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87" name="Shape 19"/>
          <p:cNvSpPr/>
          <p:nvPr/>
        </p:nvSpPr>
        <p:spPr>
          <a:xfrm>
            <a:off x="0" y="4442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88" name="Shape 20"/>
          <p:cNvSpPr/>
          <p:nvPr/>
        </p:nvSpPr>
        <p:spPr>
          <a:xfrm>
            <a:off x="0" y="467604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89" name="Shape 21"/>
          <p:cNvSpPr/>
          <p:nvPr/>
        </p:nvSpPr>
        <p:spPr>
          <a:xfrm>
            <a:off x="0" y="4909680"/>
            <a:ext cx="9143640" cy="8640"/>
          </a:xfrm>
          <a:prstGeom prst="rect">
            <a:avLst/>
          </a:prstGeom>
          <a:solidFill>
            <a:srgbClr val="00ff41">
              <a:alpha val="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90" name="Shape 22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91" name="Shape 23"/>
          <p:cNvSpPr/>
          <p:nvPr/>
        </p:nvSpPr>
        <p:spPr>
          <a:xfrm>
            <a:off x="0" y="29268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92" name="Text 24"/>
          <p:cNvSpPr/>
          <p:nvPr/>
        </p:nvSpPr>
        <p:spPr>
          <a:xfrm>
            <a:off x="20124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▸ </a:t>
            </a:r>
            <a:r>
              <a:rPr b="1" lang="en-US" sz="900" spc="299" strike="noStrike">
                <a:solidFill>
                  <a:srgbClr val="00cc33"/>
                </a:solidFill>
                <a:latin typeface="Consolas"/>
                <a:ea typeface="Consolas"/>
              </a:rPr>
              <a:t>SECTION 08 / 08  //  CONNECTION.ESTABLISHED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93" name="Text 25"/>
          <p:cNvSpPr/>
          <p:nvPr/>
        </p:nvSpPr>
        <p:spPr>
          <a:xfrm>
            <a:off x="3474720" y="1836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199" strike="noStrike">
                <a:solidFill>
                  <a:srgbClr val="7a7a7a"/>
                </a:solidFill>
                <a:latin typeface="Consolas"/>
                <a:ea typeface="Consolas"/>
              </a:rPr>
              <a:t>LINGUA_FRANCA // v1.0.0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94" name="Shape 26"/>
          <p:cNvSpPr/>
          <p:nvPr/>
        </p:nvSpPr>
        <p:spPr>
          <a:xfrm>
            <a:off x="8915400" y="114480"/>
            <a:ext cx="63720" cy="63720"/>
          </a:xfrm>
          <a:prstGeom prst="rect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95" name="Shape 27"/>
          <p:cNvSpPr/>
          <p:nvPr/>
        </p:nvSpPr>
        <p:spPr>
          <a:xfrm>
            <a:off x="0" y="4887360"/>
            <a:ext cx="9143640" cy="255600"/>
          </a:xfrm>
          <a:prstGeom prst="rect">
            <a:avLst/>
          </a:prstGeom>
          <a:solidFill>
            <a:srgbClr val="0b0f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96" name="Shape 28"/>
          <p:cNvSpPr/>
          <p:nvPr/>
        </p:nvSpPr>
        <p:spPr>
          <a:xfrm>
            <a:off x="0" y="4876560"/>
            <a:ext cx="91436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97" name="Text 29"/>
          <p:cNvSpPr/>
          <p:nvPr/>
        </p:nvSpPr>
        <p:spPr>
          <a:xfrm>
            <a:off x="274320" y="4887360"/>
            <a:ext cx="8595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299" strike="noStrike">
                <a:solidFill>
                  <a:srgbClr val="008824"/>
                </a:solidFill>
                <a:latin typeface="Consolas"/>
                <a:ea typeface="Consolas"/>
              </a:rPr>
              <a:t>● </a:t>
            </a:r>
            <a:r>
              <a:rPr b="1" lang="en-US" sz="800" spc="299" strike="noStrike">
                <a:solidFill>
                  <a:srgbClr val="008824"/>
                </a:solidFill>
                <a:latin typeface="Consolas"/>
                <a:ea typeface="Consolas"/>
              </a:rPr>
              <a:t>LINK ACTIVE    github.com/d3hospitality    RED_CAMBRIA @ 2026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798" name="Shape 30"/>
          <p:cNvSpPr/>
          <p:nvPr/>
        </p:nvSpPr>
        <p:spPr>
          <a:xfrm>
            <a:off x="164520" y="164520"/>
            <a:ext cx="200880" cy="226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99" name="Shape 31"/>
          <p:cNvSpPr/>
          <p:nvPr/>
        </p:nvSpPr>
        <p:spPr>
          <a:xfrm>
            <a:off x="164520" y="164520"/>
            <a:ext cx="22680" cy="2008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0" name="Shape 32"/>
          <p:cNvSpPr/>
          <p:nvPr/>
        </p:nvSpPr>
        <p:spPr>
          <a:xfrm>
            <a:off x="8778240" y="164520"/>
            <a:ext cx="200880" cy="226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1" name="Shape 33"/>
          <p:cNvSpPr/>
          <p:nvPr/>
        </p:nvSpPr>
        <p:spPr>
          <a:xfrm>
            <a:off x="8956440" y="164520"/>
            <a:ext cx="22680" cy="2008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2" name="Shape 34"/>
          <p:cNvSpPr/>
          <p:nvPr/>
        </p:nvSpPr>
        <p:spPr>
          <a:xfrm>
            <a:off x="164520" y="4956120"/>
            <a:ext cx="200880" cy="226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3" name="Shape 35"/>
          <p:cNvSpPr/>
          <p:nvPr/>
        </p:nvSpPr>
        <p:spPr>
          <a:xfrm>
            <a:off x="164520" y="4777920"/>
            <a:ext cx="22680" cy="2008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4" name="Shape 36"/>
          <p:cNvSpPr/>
          <p:nvPr/>
        </p:nvSpPr>
        <p:spPr>
          <a:xfrm>
            <a:off x="8778240" y="4956120"/>
            <a:ext cx="200880" cy="226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5" name="Shape 37"/>
          <p:cNvSpPr/>
          <p:nvPr/>
        </p:nvSpPr>
        <p:spPr>
          <a:xfrm>
            <a:off x="8956440" y="4777920"/>
            <a:ext cx="22680" cy="200880"/>
          </a:xfrm>
          <a:prstGeom prst="rect">
            <a:avLst/>
          </a:prstGeom>
          <a:solidFill>
            <a:srgbClr val="0088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6" name="Shape 38"/>
          <p:cNvSpPr/>
          <p:nvPr/>
        </p:nvSpPr>
        <p:spPr>
          <a:xfrm rot="2700000">
            <a:off x="4297680" y="1188360"/>
            <a:ext cx="548280" cy="548280"/>
          </a:xfrm>
          <a:prstGeom prst="rect">
            <a:avLst/>
          </a:prstGeom>
          <a:solidFill>
            <a:srgbClr val="05080a"/>
          </a:solidFill>
          <a:ln w="15875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7" name="Shape 39"/>
          <p:cNvSpPr/>
          <p:nvPr/>
        </p:nvSpPr>
        <p:spPr>
          <a:xfrm>
            <a:off x="4517280" y="1408320"/>
            <a:ext cx="109440" cy="109440"/>
          </a:xfrm>
          <a:prstGeom prst="ellipse">
            <a:avLst/>
          </a:prstGeom>
          <a:solidFill>
            <a:srgbClr val="00ff4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8" name="Text 40"/>
          <p:cNvSpPr/>
          <p:nvPr/>
        </p:nvSpPr>
        <p:spPr>
          <a:xfrm>
            <a:off x="274320" y="2057400"/>
            <a:ext cx="8595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497" strike="noStrike">
                <a:solidFill>
                  <a:srgbClr val="00cc33"/>
                </a:solidFill>
                <a:latin typeface="Consolas"/>
                <a:ea typeface="Consolas"/>
              </a:rPr>
              <a:t>&gt; HANDSHAKE OK    //    CHANNEL ESTABLISHED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09" name="Text 41"/>
          <p:cNvSpPr/>
          <p:nvPr/>
        </p:nvSpPr>
        <p:spPr>
          <a:xfrm>
            <a:off x="274320" y="2560320"/>
            <a:ext cx="8595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797" strike="noStrike">
                <a:solidFill>
                  <a:srgbClr val="00ff41"/>
                </a:solidFill>
                <a:latin typeface="Consolas"/>
                <a:ea typeface="Consolas"/>
              </a:rPr>
              <a:t>LANGUAGE,  DONE DIFFERENT.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810" name="Text 42"/>
          <p:cNvSpPr/>
          <p:nvPr/>
        </p:nvSpPr>
        <p:spPr>
          <a:xfrm>
            <a:off x="274320" y="3429000"/>
            <a:ext cx="8595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999" strike="noStrike">
                <a:solidFill>
                  <a:srgbClr val="ffd700"/>
                </a:solidFill>
                <a:latin typeface="Consolas"/>
                <a:ea typeface="Consolas"/>
              </a:rPr>
              <a:t>SPEAK.   SEE.   CONNECT.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811" name="Shape 43"/>
          <p:cNvSpPr/>
          <p:nvPr/>
        </p:nvSpPr>
        <p:spPr>
          <a:xfrm>
            <a:off x="2743200" y="3931920"/>
            <a:ext cx="3657240" cy="10440"/>
          </a:xfrm>
          <a:prstGeom prst="rect">
            <a:avLst/>
          </a:prstGeom>
          <a:solidFill>
            <a:srgbClr val="1f36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12" name="Text 44"/>
          <p:cNvSpPr/>
          <p:nvPr/>
        </p:nvSpPr>
        <p:spPr>
          <a:xfrm>
            <a:off x="274320" y="40690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9" strike="noStrike">
                <a:solidFill>
                  <a:srgbClr val="008824"/>
                </a:solidFill>
                <a:latin typeface="Consolas"/>
                <a:ea typeface="Consolas"/>
              </a:rPr>
              <a:t>&gt; repo   </a:t>
            </a:r>
            <a:r>
              <a:rPr b="1" lang="en-US" sz="1000" spc="199" strike="noStrike">
                <a:solidFill>
                  <a:srgbClr val="00ff41"/>
                </a:solidFill>
                <a:latin typeface="Consolas"/>
                <a:ea typeface="Consolas"/>
              </a:rPr>
              <a:t>github.com/d3hospitality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813" name="Text 45"/>
          <p:cNvSpPr/>
          <p:nvPr/>
        </p:nvSpPr>
        <p:spPr>
          <a:xfrm>
            <a:off x="274320" y="427032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9" strike="noStrike">
                <a:solidFill>
                  <a:srgbClr val="008824"/>
                </a:solidFill>
                <a:latin typeface="Consolas"/>
                <a:ea typeface="Consolas"/>
              </a:rPr>
              <a:t>&gt; email  </a:t>
            </a:r>
            <a:r>
              <a:rPr b="1" lang="en-US" sz="1000" spc="199" strike="noStrike">
                <a:solidFill>
                  <a:srgbClr val="00ff41"/>
                </a:solidFill>
                <a:latin typeface="Consolas"/>
                <a:ea typeface="Consolas"/>
              </a:rPr>
              <a:t>admin@redcambria.com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814" name="Text 46"/>
          <p:cNvSpPr/>
          <p:nvPr/>
        </p:nvSpPr>
        <p:spPr>
          <a:xfrm>
            <a:off x="274320" y="447156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9" strike="noStrike">
                <a:solidFill>
                  <a:srgbClr val="008824"/>
                </a:solidFill>
                <a:latin typeface="Consolas"/>
                <a:ea typeface="Consolas"/>
              </a:rPr>
              <a:t>&gt; node   </a:t>
            </a:r>
            <a:r>
              <a:rPr b="1" lang="en-US" sz="1000" spc="199" strike="noStrike">
                <a:solidFill>
                  <a:srgbClr val="00ff41"/>
                </a:solidFill>
                <a:latin typeface="Consolas"/>
                <a:ea typeface="Consolas"/>
              </a:rPr>
              <a:t>RED_CAMBRIA / 2026</a:t>
            </a: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2530</TotalTime>
  <Application>PPTXPresentationEditor/1.2.0.0$MacOSX_AARCH64 LibreOffice_project/e114eadc50a9ff8d8c8a0567d6da8f454beeb84f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2026-04-19T00:50:02Z</dcterms:created>
  <dc:creator>Red Cambria</dc:creator>
  <dc:description/>
  <dc:language>en-US</dc:language>
  <cp:lastModifiedBy/>
  <dcterms:modified xsi:type="dcterms:W3CDTF">2026-04-20T15:24:56Z</dcterms:modified>
  <cp:revision>2</cp:revision>
  <dc:subject>PptxGenJS Presentation</dc:subject>
  <dc:title>Lingua Franca — soPHICON-styled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